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4" r:id="rId4"/>
  </p:sldMasterIdLst>
  <p:notesMasterIdLst>
    <p:notesMasterId r:id="rId38"/>
  </p:notesMasterIdLst>
  <p:sldIdLst>
    <p:sldId id="256" r:id="rId5"/>
    <p:sldId id="268" r:id="rId6"/>
    <p:sldId id="258" r:id="rId7"/>
    <p:sldId id="271" r:id="rId8"/>
    <p:sldId id="304" r:id="rId9"/>
    <p:sldId id="273" r:id="rId10"/>
    <p:sldId id="274" r:id="rId11"/>
    <p:sldId id="277" r:id="rId12"/>
    <p:sldId id="259" r:id="rId13"/>
    <p:sldId id="278" r:id="rId14"/>
    <p:sldId id="311" r:id="rId15"/>
    <p:sldId id="260" r:id="rId16"/>
    <p:sldId id="279" r:id="rId17"/>
    <p:sldId id="312" r:id="rId18"/>
    <p:sldId id="305" r:id="rId19"/>
    <p:sldId id="306" r:id="rId20"/>
    <p:sldId id="313" r:id="rId21"/>
    <p:sldId id="287" r:id="rId22"/>
    <p:sldId id="300" r:id="rId23"/>
    <p:sldId id="315" r:id="rId24"/>
    <p:sldId id="316" r:id="rId25"/>
    <p:sldId id="286" r:id="rId26"/>
    <p:sldId id="317" r:id="rId27"/>
    <p:sldId id="318" r:id="rId28"/>
    <p:sldId id="319" r:id="rId29"/>
    <p:sldId id="293" r:id="rId30"/>
    <p:sldId id="295" r:id="rId31"/>
    <p:sldId id="307" r:id="rId32"/>
    <p:sldId id="309" r:id="rId33"/>
    <p:sldId id="314" r:id="rId34"/>
    <p:sldId id="310" r:id="rId35"/>
    <p:sldId id="298" r:id="rId36"/>
    <p:sldId id="299" r:id="rId37"/>
  </p:sldIdLst>
  <p:sldSz cx="12192000" cy="6858000"/>
  <p:notesSz cx="6858000" cy="91440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26DE3-9920-4455-BFA1-F514AAFA2ECA}" v="15" dt="2025-11-16T17:42:41.922"/>
    <p1510:client id="{1C8D44DA-92EE-49D6-B81B-FAF7ED1EB758}" v="207" dt="2025-11-16T18:19:17.761"/>
    <p1510:client id="{73A7EB4F-9092-47FE-A805-8CE1C101F115}" v="278" dt="2025-11-16T20:34:26.043"/>
    <p1510:client id="{81D3C528-3B18-0D41-A2CE-29270A3EB396}" v="1" dt="2025-11-15T00:25:38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2"/>
    <p:restoredTop sz="94694"/>
  </p:normalViewPr>
  <p:slideViewPr>
    <p:cSldViewPr snapToGrid="0">
      <p:cViewPr varScale="1">
        <p:scale>
          <a:sx n="121" d="100"/>
          <a:sy n="121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77DCA-1D89-B741-B0A6-4957E47FB572}" type="datetimeFigureOut">
              <a:rPr lang="en-NL" smtClean="0"/>
              <a:t>11/16/2025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2C273-4CF9-FA4D-9BE9-9E854D4287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745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2C273-4CF9-FA4D-9BE9-9E854D428749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93197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Microservices usually mean many small services — so startup time and memory usage really matter.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Quarkus</a:t>
            </a:r>
            <a:r>
              <a:rPr lang="en-US" dirty="0"/>
              <a:t> is optimized for containers and native images, which keeps resource usage low.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Quarkus</a:t>
            </a:r>
            <a:r>
              <a:rPr lang="en-US" dirty="0"/>
              <a:t> Dev Services make local development much easier: we don’t have to manually start external services like databases.</a:t>
            </a:r>
            <a:br>
              <a:rPr lang="en-US" dirty="0">
                <a:cs typeface="+mn-lt"/>
              </a:rPr>
            </a:br>
            <a:r>
              <a:rPr lang="en-US" dirty="0"/>
              <a:t> Extensions for health, metrics and tracing give us production-ready building blocks.</a:t>
            </a:r>
            <a:br>
              <a:rPr lang="en-US" dirty="0">
                <a:cs typeface="+mn-lt"/>
              </a:rPr>
            </a:br>
            <a:r>
              <a:rPr lang="en-US" dirty="0"/>
              <a:t> Overall, </a:t>
            </a:r>
            <a:r>
              <a:rPr lang="en-US" dirty="0" err="1"/>
              <a:t>Quarkus</a:t>
            </a:r>
            <a:r>
              <a:rPr lang="en-US" dirty="0"/>
              <a:t> is opinionated: it pushes us towards a certain way of building microservices — but we can still customize when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2C273-4CF9-FA4D-9BE9-9E854D428749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762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Reactive programming is about handling lots of concurrent work efficiently, especially when we wait on external systems like databases or APIs.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Quarkus</a:t>
            </a:r>
            <a:r>
              <a:rPr lang="en-US" dirty="0"/>
              <a:t> uses Mutiny as its main reactive API, with Uni for single results and Multi for streams.</a:t>
            </a:r>
            <a:br>
              <a:rPr lang="en-US" dirty="0">
                <a:cs typeface="+mn-lt"/>
              </a:rPr>
            </a:b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2C273-4CF9-FA4D-9BE9-9E854D428749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48951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RESTEasy</a:t>
            </a:r>
            <a:r>
              <a:rPr lang="en-US" dirty="0"/>
              <a:t> Reactive is optimized for reactive I/O and gives better performance in many scenarios.</a:t>
            </a:r>
            <a:br>
              <a:rPr lang="en-US" dirty="0"/>
            </a:br>
            <a:r>
              <a:rPr lang="en-US" dirty="0"/>
              <a:t> Under the hood, </a:t>
            </a:r>
            <a:r>
              <a:rPr lang="en-US" dirty="0" err="1"/>
              <a:t>Quarkus</a:t>
            </a:r>
            <a:r>
              <a:rPr lang="en-US" dirty="0"/>
              <a:t> uses </a:t>
            </a:r>
            <a:r>
              <a:rPr lang="en-US" dirty="0" err="1"/>
              <a:t>Vert.x</a:t>
            </a:r>
            <a:r>
              <a:rPr lang="en-US" dirty="0"/>
              <a:t> — a toolkit for reactive, non-blocking applications.</a:t>
            </a:r>
            <a:br>
              <a:rPr lang="en-US" dirty="0"/>
            </a:br>
            <a:r>
              <a:rPr lang="en-US" dirty="0"/>
              <a:t> This is especially powerful for event-driven systems, streaming, and where we expect bursts of traffic.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2C273-4CF9-FA4D-9BE9-9E854D428749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48601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Quarkus</a:t>
            </a:r>
            <a:r>
              <a:rPr lang="en-US" dirty="0"/>
              <a:t> integrates tightly with Hibernate ORM, so most JPA knowledge transfers directly.</a:t>
            </a:r>
            <a:br>
              <a:rPr lang="en-US" dirty="0">
                <a:cs typeface="+mn-lt"/>
              </a:rPr>
            </a:br>
            <a:r>
              <a:rPr lang="en-US" dirty="0"/>
              <a:t> Panache adds convenience on top by giving us simple CRUD methods without writing repositories for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2C273-4CF9-FA4D-9BE9-9E854D428749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3350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use standard relational databases, and for development Dev Services can start a containerized DB for us automatically.</a:t>
            </a:r>
            <a:br>
              <a:rPr lang="en-US" dirty="0">
                <a:cs typeface="+mn-lt"/>
              </a:rPr>
            </a:br>
            <a:r>
              <a:rPr lang="en-US" dirty="0"/>
              <a:t> For real projects, we typically use tools like Flyway or Liquibase instead of relying on Hibernate auto-creation in production.</a:t>
            </a:r>
            <a:br>
              <a:rPr lang="en-US" dirty="0">
                <a:cs typeface="+mn-lt"/>
              </a:rPr>
            </a:br>
            <a:r>
              <a:rPr lang="en-US" dirty="0"/>
              <a:t> Tuning Hibernate is still important: understanding lazy loading, batching and caching is key for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2C273-4CF9-FA4D-9BE9-9E854D428749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08553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Quarkus</a:t>
            </a:r>
            <a:r>
              <a:rPr lang="en-US" dirty="0"/>
              <a:t> is powerful, but not a silver bullet.</a:t>
            </a:r>
            <a:br>
              <a:rPr lang="en-US" dirty="0"/>
            </a:br>
            <a:r>
              <a:rPr lang="en-US" dirty="0"/>
              <a:t> Compared to Spring Boot, the ecosystem and community are still smaller, which can make troubleshooting harder.</a:t>
            </a:r>
            <a:br>
              <a:rPr lang="en-US" dirty="0"/>
            </a:br>
            <a:r>
              <a:rPr lang="en-US" dirty="0"/>
              <a:t> Native images bring great performance but also technical complexity, especially with reflection-heavy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2C273-4CF9-FA4D-9BE9-9E854D428749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27845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Quarkus</a:t>
            </a:r>
            <a:r>
              <a:rPr lang="en-US" dirty="0"/>
              <a:t> is opinionated — if your team likes total flexibility, this can sometimes feel restrictive.</a:t>
            </a:r>
            <a:br>
              <a:rPr lang="en-US" dirty="0">
                <a:cs typeface="+mn-lt"/>
              </a:rPr>
            </a:br>
            <a:r>
              <a:rPr lang="en-US" dirty="0"/>
              <a:t> Migration from large existing Spring landscapes requires real effort — especially around security, configuration, and library compatibility.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2C273-4CF9-FA4D-9BE9-9E854D428749}" type="slidenum">
              <a:rPr lang="en-NL" smtClean="0"/>
              <a:t>30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2888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pag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60F246EA-2CA6-A949-8C74-EFA4609F56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84548843-C499-E245-95D4-C33008F1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200" y="1867200"/>
            <a:ext cx="11630400" cy="11430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solidFill>
                  <a:schemeClr val="bg1">
                    <a:alpha val="94000"/>
                  </a:schemeClr>
                </a:solidFill>
              </a:defRPr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4" name="Tijdelijke aanduiding voor inhoud 1">
            <a:extLst>
              <a:ext uri="{FF2B5EF4-FFF2-40B4-BE49-F238E27FC236}">
                <a16:creationId xmlns:a16="http://schemas.microsoft.com/office/drawing/2014/main" id="{95FDD6F5-0480-CA47-B912-1C37A36ACC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3201" y="3108960"/>
            <a:ext cx="11630399" cy="2324017"/>
          </a:xfrm>
        </p:spPr>
        <p:txBody>
          <a:bodyPr/>
          <a:lstStyle>
            <a:lvl1pPr>
              <a:buFontTx/>
              <a:buNone/>
              <a:defRPr sz="2400" b="0" i="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GB" noProof="0" dirty="0"/>
              <a:t>Click to add text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C0CDD49-0FD6-854E-89FF-F346A5A3E3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4400" y="254467"/>
            <a:ext cx="897467" cy="897467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9ED23263-E76C-E54E-98ED-25AF9146A9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2001" y="206401"/>
            <a:ext cx="1443567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2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p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A8308C1A-2923-C64E-B68B-9EEA862187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651403BA-E744-2547-B84E-67A9F03F5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200" y="1867200"/>
            <a:ext cx="11630400" cy="11430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solidFill>
                  <a:schemeClr val="bg1">
                    <a:alpha val="94000"/>
                  </a:schemeClr>
                </a:solidFill>
              </a:defRPr>
            </a:lvl1pPr>
          </a:lstStyle>
          <a:p>
            <a:r>
              <a:rPr lang="en-GB" noProof="0" dirty="0"/>
              <a:t>TITLE OF PRESENTATION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4035707-CD2A-8545-AD86-35C72830E8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4400" y="254467"/>
            <a:ext cx="897467" cy="897467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F62A3FF3-9AB5-3943-B136-EB500787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2001" y="206401"/>
            <a:ext cx="1443567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05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Sheet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96776A1B-8BE3-374E-8847-A3810285CD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" y="0"/>
            <a:ext cx="12191997" cy="6857997"/>
          </a:xfrm>
          <a:prstGeom prst="rect">
            <a:avLst/>
          </a:prstGeom>
        </p:spPr>
      </p:pic>
      <p:sp>
        <p:nvSpPr>
          <p:cNvPr id="4" name="Tijdelijke aanduiding voor afbeelding 4">
            <a:extLst>
              <a:ext uri="{FF2B5EF4-FFF2-40B4-BE49-F238E27FC236}">
                <a16:creationId xmlns:a16="http://schemas.microsoft.com/office/drawing/2014/main" id="{8AEE0225-7956-3A4F-8287-786BC27D76D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01600"/>
            <a:ext cx="12192000" cy="5476800"/>
          </a:xfrm>
          <a:blipFill>
            <a:blip r:embed="rId3"/>
            <a:stretch>
              <a:fillRect/>
            </a:stretch>
          </a:blipFill>
        </p:spPr>
        <p:txBody>
          <a:bodyPr tIns="1188000" anchor="t" anchorCtr="0">
            <a:normAutofit/>
          </a:bodyPr>
          <a:lstStyle>
            <a:lvl1pPr algn="ctr">
              <a:buNone/>
              <a:defRPr sz="2400" b="0" i="0">
                <a:solidFill>
                  <a:srgbClr val="663366"/>
                </a:solidFill>
              </a:defRPr>
            </a:lvl1pPr>
          </a:lstStyle>
          <a:p>
            <a:r>
              <a:rPr lang="en-GB" noProof="0" dirty="0"/>
              <a:t>Make your own Cover Sheet: click on the icon below and add you own picture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84D0319-E68C-0346-9761-783130EF38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0703" y="211201"/>
            <a:ext cx="1443567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69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Sheet-tex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128E000C-8FB7-9C49-BE79-9D80E18CED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989957" y="6173788"/>
            <a:ext cx="84864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10804801" y="6172800"/>
            <a:ext cx="1106396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989957" y="1516800"/>
            <a:ext cx="9921237" cy="1143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989956" y="2726400"/>
            <a:ext cx="9921239" cy="3379200"/>
          </a:xfrm>
        </p:spPr>
        <p:txBody>
          <a:bodyPr/>
          <a:lstStyle>
            <a:lvl1pPr>
              <a:defRPr sz="2667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08562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Sheet-tex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AF0156F6-E8ED-5348-BC5C-2101E739D5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" y="0"/>
            <a:ext cx="12191997" cy="6857997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989958" y="6173788"/>
            <a:ext cx="8488153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10804801" y="6172800"/>
            <a:ext cx="1106396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989957" y="1516800"/>
            <a:ext cx="9921237" cy="1143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989956" y="2726400"/>
            <a:ext cx="9921239" cy="3379200"/>
          </a:xfrm>
        </p:spPr>
        <p:txBody>
          <a:bodyPr/>
          <a:lstStyle>
            <a:lvl1pPr>
              <a:defRPr sz="2667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3991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Sheet-tex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483F4D-8F76-C74B-A272-983347FFA7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992000" y="6173788"/>
            <a:ext cx="8486400" cy="365125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0804801" y="6172800"/>
            <a:ext cx="1106396" cy="365125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1992000" y="1515453"/>
            <a:ext cx="9919195" cy="1143000"/>
          </a:xfrm>
          <a:prstGeom prst="rect">
            <a:avLst/>
          </a:prstGeom>
        </p:spPr>
        <p:txBody>
          <a:bodyPr/>
          <a:lstStyle>
            <a:lvl1pPr algn="r">
              <a:defRPr b="0" i="0"/>
            </a:lvl1pPr>
          </a:lstStyle>
          <a:p>
            <a:r>
              <a:rPr lang="en-GB" noProof="0" dirty="0"/>
              <a:t>Title of presentation</a:t>
            </a:r>
          </a:p>
        </p:txBody>
      </p:sp>
      <p:sp>
        <p:nvSpPr>
          <p:cNvPr id="1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992000" y="2726401"/>
            <a:ext cx="9919195" cy="3380777"/>
          </a:xfrm>
        </p:spPr>
        <p:txBody>
          <a:bodyPr/>
          <a:lstStyle>
            <a:lvl1pPr algn="r">
              <a:defRPr sz="2667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 algn="r"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9691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inuation-page-title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283201" y="1600201"/>
            <a:ext cx="11630399" cy="3832776"/>
          </a:xfrm>
        </p:spPr>
        <p:txBody>
          <a:bodyPr/>
          <a:lstStyle>
            <a:lvl1pPr>
              <a:defRPr sz="2667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7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145792" y="6173788"/>
            <a:ext cx="8332608" cy="365125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en-US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0804801" y="6172800"/>
            <a:ext cx="1106396" cy="365125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2EE66E6-DAAA-514E-8E4A-56C847E2A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200" y="275167"/>
            <a:ext cx="11630400" cy="1143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GB" noProof="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149301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inuation-page-title-2-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3200" y="275167"/>
            <a:ext cx="11630400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733" b="0" i="0"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283200" y="1600201"/>
            <a:ext cx="5712000" cy="3859939"/>
          </a:xfrm>
        </p:spPr>
        <p:txBody>
          <a:bodyPr>
            <a:normAutofit/>
          </a:bodyPr>
          <a:lstStyle>
            <a:lvl1pPr>
              <a:defRPr sz="2667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24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 noProof="0" dirty="0"/>
              <a:t>Click to add </a:t>
            </a:r>
            <a:r>
              <a:rPr lang="en-GB" noProof="0" dirty="0" err="1"/>
              <a:t>tekst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711201" cy="3859940"/>
          </a:xfrm>
        </p:spPr>
        <p:txBody>
          <a:bodyPr>
            <a:normAutofit/>
          </a:bodyPr>
          <a:lstStyle>
            <a:lvl1pPr>
              <a:defRPr sz="2667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24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 noProof="0" dirty="0"/>
              <a:t>Click to add </a:t>
            </a:r>
            <a:r>
              <a:rPr lang="en-GB" noProof="0" dirty="0" err="1"/>
              <a:t>tekst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145792" y="6173788"/>
            <a:ext cx="8332608" cy="365125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0804801" y="6172800"/>
            <a:ext cx="1106396" cy="365125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F6961271-B8AB-7E4E-8ED9-51C3D68B8AEB}"/>
              </a:ext>
            </a:extLst>
          </p:cNvPr>
          <p:cNvSpPr txBox="1"/>
          <p:nvPr/>
        </p:nvSpPr>
        <p:spPr>
          <a:xfrm>
            <a:off x="5649951" y="1174595"/>
            <a:ext cx="0" cy="0"/>
          </a:xfrm>
          <a:prstGeom prst="rect">
            <a:avLst/>
          </a:prstGeom>
        </p:spPr>
        <p:txBody>
          <a:bodyPr vert="horz" wrap="none" lIns="121920" tIns="60960" rIns="121920" bIns="60960" rtlCol="0" anchor="t">
            <a:normAutofit fontScale="25000" lnSpcReduction="20000"/>
          </a:bodyPr>
          <a:lstStyle/>
          <a:p>
            <a:pPr algn="l"/>
            <a:endParaRPr lang="nl-NL" sz="2400" b="0" i="0" dirty="0">
              <a:solidFill>
                <a:srgbClr val="C00000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237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inuation-page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389717" y="4800600"/>
            <a:ext cx="7315200" cy="56726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 b="0" i="0"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 hasCustomPrompt="1"/>
          </p:nvPr>
        </p:nvSpPr>
        <p:spPr>
          <a:xfrm>
            <a:off x="2389717" y="613833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733" b="0" i="0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GB" noProof="0" dirty="0"/>
              <a:t>Picture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7" b="0" i="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GB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39560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-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B8A9C812-2E58-0645-A293-BECF92250576}"/>
              </a:ext>
            </a:extLst>
          </p:cNvPr>
          <p:cNvSpPr/>
          <p:nvPr/>
        </p:nvSpPr>
        <p:spPr>
          <a:xfrm>
            <a:off x="0" y="0"/>
            <a:ext cx="12192000" cy="5452800"/>
          </a:xfrm>
          <a:prstGeom prst="rect">
            <a:avLst/>
          </a:prstGeom>
          <a:solidFill>
            <a:srgbClr val="66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 b="0" i="0" dirty="0">
              <a:latin typeface="Roboto" panose="02000000000000000000" pitchFamily="2" charset="0"/>
            </a:endParaRPr>
          </a:p>
        </p:txBody>
      </p:sp>
      <p:sp>
        <p:nvSpPr>
          <p:cNvPr id="9" name="Tijdelijke aanduiding voor inhoud 1">
            <a:extLst>
              <a:ext uri="{FF2B5EF4-FFF2-40B4-BE49-F238E27FC236}">
                <a16:creationId xmlns:a16="http://schemas.microsoft.com/office/drawing/2014/main" id="{E6F7F96C-6BFF-6F43-9987-44ED1DB5F4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3201" y="1600201"/>
            <a:ext cx="11630399" cy="3832776"/>
          </a:xfrm>
        </p:spPr>
        <p:txBody>
          <a:bodyPr/>
          <a:lstStyle>
            <a:lvl1pPr>
              <a:buFontTx/>
              <a:buNone/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text</a:t>
            </a:r>
          </a:p>
        </p:txBody>
      </p:sp>
      <p:sp>
        <p:nvSpPr>
          <p:cNvPr id="6" name="Tijdelijke aanduiding voor inhoud 3">
            <a:extLst>
              <a:ext uri="{FF2B5EF4-FFF2-40B4-BE49-F238E27FC236}">
                <a16:creationId xmlns:a16="http://schemas.microsoft.com/office/drawing/2014/main" id="{18C29D4F-76D7-F94D-AD51-F36087CA24D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91455" y="5696755"/>
            <a:ext cx="7346528" cy="897467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1467" b="0" i="0">
                <a:latin typeface="Roboto" panose="02000000000000000000" pitchFamily="2" charset="0"/>
                <a:cs typeface="Arial"/>
              </a:defRPr>
            </a:lvl1pPr>
            <a:lvl2pPr marL="609585" indent="0">
              <a:buFontTx/>
              <a:buNone/>
              <a:defRPr sz="1600">
                <a:latin typeface="Arial"/>
                <a:cs typeface="Arial"/>
              </a:defRPr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 noProof="0" dirty="0"/>
              <a:t>Contact details (name, email address, etc..)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62C682D-2044-A54E-BC81-B1A23C4EDE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50703" y="5653834"/>
            <a:ext cx="1443567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9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4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76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6A4BE0C7-2FE7-174E-903D-40F0075BB41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83200" y="275167"/>
            <a:ext cx="11630400" cy="1143000"/>
          </a:xfrm>
          <a:prstGeom prst="rect">
            <a:avLst/>
          </a:prstGeom>
        </p:spPr>
        <p:txBody>
          <a:bodyPr vert="horz" lIns="90000" tIns="45720" rIns="91440" bIns="45720" rtlCol="0" anchor="ctr">
            <a:normAutofit/>
          </a:bodyPr>
          <a:lstStyle/>
          <a:p>
            <a:r>
              <a:rPr lang="en-GB" noProof="0" dirty="0"/>
              <a:t>Title of presentation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83201" y="1600201"/>
            <a:ext cx="11630399" cy="3832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10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145792" y="6173788"/>
            <a:ext cx="833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7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0804801" y="6172800"/>
            <a:ext cx="11063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7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27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609585" rtl="0" eaLnBrk="1" latinLnBrk="0" hangingPunct="1">
        <a:spcBef>
          <a:spcPct val="0"/>
        </a:spcBef>
        <a:buNone/>
        <a:defRPr sz="3733" b="0" i="0" kern="1200" baseline="0">
          <a:solidFill>
            <a:srgbClr val="660066"/>
          </a:solidFill>
          <a:latin typeface="Roboto Medium" panose="02000000000000000000" pitchFamily="2" charset="0"/>
          <a:ea typeface="Roboto Medium" panose="02000000000000000000" pitchFamily="2" charset="0"/>
          <a:cs typeface="Arial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2667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quarkus.io/guides/" TargetMode="External"/><Relationship Id="rId3" Type="http://schemas.openxmlformats.org/officeDocument/2006/relationships/hyperlink" Target="https://decode.agency/article/quarkus-framework/" TargetMode="External"/><Relationship Id="rId7" Type="http://schemas.openxmlformats.org/officeDocument/2006/relationships/hyperlink" Target="https://quarkus.io/get-started/" TargetMode="External"/><Relationship Id="rId2" Type="http://schemas.openxmlformats.org/officeDocument/2006/relationships/hyperlink" Target="https://www.logicmonitor.com/blog/quarkus-vs-spring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quarkus.io/developer-joy/" TargetMode="External"/><Relationship Id="rId5" Type="http://schemas.openxmlformats.org/officeDocument/2006/relationships/hyperlink" Target="https://www.baeldung.com/quarkus-io" TargetMode="External"/><Relationship Id="rId10" Type="http://schemas.openxmlformats.org/officeDocument/2006/relationships/hyperlink" Target="https://quarkus.io/version/main/guides/quarkus-reactive-architecture" TargetMode="External"/><Relationship Id="rId4" Type="http://schemas.openxmlformats.org/officeDocument/2006/relationships/hyperlink" Target="https://blog.stackademic.com/we-switched-from-spring-boot-to-quarkus-heres-the-ugly-truth-c8a91c2b8c53" TargetMode="External"/><Relationship Id="rId9" Type="http://schemas.openxmlformats.org/officeDocument/2006/relationships/hyperlink" Target="https://medium.com/@iamvensan/micronaut-vs-helidon-vs-quarkus-vs-spring-boot-4f00b0d4a7a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082B-399A-18B3-7A07-5A88F80DF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200" y="1867200"/>
            <a:ext cx="11630400" cy="1143000"/>
          </a:xfrm>
        </p:spPr>
        <p:txBody>
          <a:bodyPr anchor="ctr">
            <a:normAutofit/>
          </a:bodyPr>
          <a:lstStyle/>
          <a:p>
            <a:r>
              <a:rPr lang="en-NL" sz="3700">
                <a:latin typeface="Roboto Medium"/>
                <a:ea typeface="Roboto Medium"/>
              </a:rPr>
              <a:t>Quarkus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3F2ED-65C2-D408-802E-203DE92E2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201" y="3108960"/>
            <a:ext cx="11630399" cy="23240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Roboto"/>
                <a:ea typeface="Roboto"/>
              </a:rPr>
              <a:t>Moritz </a:t>
            </a:r>
            <a:r>
              <a:rPr lang="en-US" dirty="0" err="1">
                <a:latin typeface="Roboto"/>
                <a:ea typeface="Roboto"/>
                <a:cs typeface="Roboto"/>
              </a:rPr>
              <a:t>Müscher</a:t>
            </a:r>
            <a:endParaRPr lang="en-US" dirty="0"/>
          </a:p>
          <a:p>
            <a:pPr marL="456565" indent="-456565"/>
            <a:r>
              <a:rPr lang="en-US" dirty="0">
                <a:latin typeface="Roboto"/>
                <a:ea typeface="Roboto"/>
              </a:rPr>
              <a:t>Tiberiu </a:t>
            </a:r>
            <a:r>
              <a:rPr lang="en-US" dirty="0" err="1">
                <a:latin typeface="Roboto"/>
                <a:ea typeface="Roboto"/>
              </a:rPr>
              <a:t>Velcea</a:t>
            </a:r>
            <a:endParaRPr lang="en-US" dirty="0" err="1"/>
          </a:p>
          <a:p>
            <a:pPr marL="456565" indent="-456565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0936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7708B-E89A-BFC1-3502-9DAE2A20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9F90B-7CC2-F985-9DA9-5318274EB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27" y="1221220"/>
            <a:ext cx="9348816" cy="444806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6565" indent="-456565"/>
            <a:r>
              <a:rPr lang="en-US" sz="2400" dirty="0"/>
              <a:t>What is </a:t>
            </a:r>
            <a:r>
              <a:rPr lang="en-US" sz="2400" dirty="0" err="1"/>
              <a:t>Quarkus</a:t>
            </a:r>
            <a:r>
              <a:rPr lang="en-US" sz="2400" dirty="0"/>
              <a:t>?</a:t>
            </a:r>
          </a:p>
          <a:p>
            <a:pPr marL="456565" indent="-456565"/>
            <a:r>
              <a:rPr lang="en-US" sz="2400" dirty="0"/>
              <a:t>How does it work and why use it?</a:t>
            </a:r>
          </a:p>
          <a:p>
            <a:pPr marL="456565" indent="-456565"/>
            <a:r>
              <a:rPr lang="en-US" sz="2400" dirty="0"/>
              <a:t>Developer Joy: </a:t>
            </a:r>
            <a:r>
              <a:rPr lang="en-US" sz="2400" dirty="0" err="1"/>
              <a:t>Quarkus</a:t>
            </a:r>
            <a:r>
              <a:rPr lang="en-US" sz="2400" dirty="0"/>
              <a:t> Dev Mode</a:t>
            </a:r>
          </a:p>
          <a:p>
            <a:pPr marL="456565" indent="-456565"/>
            <a:r>
              <a:rPr lang="en-US" sz="2400" dirty="0" err="1"/>
              <a:t>Quarkus</a:t>
            </a:r>
            <a:r>
              <a:rPr lang="en-US" sz="2400" dirty="0"/>
              <a:t> in the Cloud</a:t>
            </a:r>
          </a:p>
          <a:p>
            <a:pPr marL="456565" indent="-456565"/>
            <a:r>
              <a:rPr lang="en-US" sz="2400" dirty="0"/>
              <a:t>Building microservices with </a:t>
            </a:r>
            <a:r>
              <a:rPr lang="en-US" sz="2400" dirty="0" err="1"/>
              <a:t>Quarkus</a:t>
            </a:r>
            <a:endParaRPr lang="en-US" sz="2400" dirty="0"/>
          </a:p>
          <a:p>
            <a:pPr marL="456565" indent="-456565"/>
            <a:r>
              <a:rPr lang="en-US" sz="2400" dirty="0"/>
              <a:t>Reactive programming with </a:t>
            </a:r>
            <a:r>
              <a:rPr lang="en-US" sz="2400" dirty="0" err="1"/>
              <a:t>Quarkus</a:t>
            </a:r>
            <a:endParaRPr lang="en-US" sz="2400" dirty="0"/>
          </a:p>
          <a:p>
            <a:pPr marL="456565" indent="-456565"/>
            <a:r>
              <a:rPr lang="en-US" sz="2400" dirty="0" err="1"/>
              <a:t>Quarkus</a:t>
            </a:r>
            <a:r>
              <a:rPr lang="en-US" sz="2400" dirty="0"/>
              <a:t> &amp; Hibernate</a:t>
            </a:r>
          </a:p>
          <a:p>
            <a:pPr marL="456565" indent="-456565"/>
            <a:r>
              <a:rPr lang="en-US" sz="2400" dirty="0" err="1"/>
              <a:t>Quarkus</a:t>
            </a:r>
            <a:r>
              <a:rPr lang="en-US" sz="2400" dirty="0"/>
              <a:t> vs Spring Boot</a:t>
            </a:r>
          </a:p>
          <a:p>
            <a:pPr marL="456565" indent="-456565"/>
            <a:r>
              <a:rPr lang="en-US" sz="2400" dirty="0"/>
              <a:t>Best Practices</a:t>
            </a:r>
          </a:p>
          <a:p>
            <a:pPr marL="456565" indent="-456565"/>
            <a:r>
              <a:rPr lang="en-US" sz="2400" dirty="0">
                <a:latin typeface="Roboto"/>
                <a:ea typeface="Roboto"/>
              </a:rPr>
              <a:t>Limitations &amp; Drawbacks</a:t>
            </a:r>
            <a:endParaRPr lang="en-US" sz="2400" dirty="0"/>
          </a:p>
          <a:p>
            <a:pPr marL="456565" indent="-456565"/>
            <a:r>
              <a:rPr lang="en-US" sz="2400" dirty="0"/>
              <a:t>Quiz + Demo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6B16B-D344-6699-E9DE-14F11AE8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r>
              <a:rPr lang="en-US" dirty="0"/>
              <a:t>/39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5D0A26-8B69-5F1E-3924-89088A4A4002}"/>
              </a:ext>
            </a:extLst>
          </p:cNvPr>
          <p:cNvSpPr txBox="1"/>
          <p:nvPr/>
        </p:nvSpPr>
        <p:spPr>
          <a:xfrm>
            <a:off x="6105378" y="2166425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 fontScale="25000" lnSpcReduction="20000"/>
          </a:bodyPr>
          <a:lstStyle/>
          <a:p>
            <a:pPr algn="l"/>
            <a:endParaRPr lang="en-NL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530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AD8D-DD66-71B9-5084-D1694900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700" dirty="0">
                <a:latin typeface="Roboto Medium"/>
                <a:ea typeface="Roboto Medium"/>
                <a:cs typeface="Roboto Medium"/>
              </a:rPr>
              <a:t>What is </a:t>
            </a:r>
            <a:r>
              <a:rPr lang="en-US" sz="3700" dirty="0" err="1">
                <a:latin typeface="Roboto Medium"/>
                <a:ea typeface="Roboto Medium"/>
                <a:cs typeface="Roboto Medium"/>
              </a:rPr>
              <a:t>Quarkus</a:t>
            </a:r>
            <a:r>
              <a:rPr lang="en-US" sz="3700" dirty="0">
                <a:latin typeface="Roboto Medium"/>
                <a:ea typeface="Roboto Medium"/>
                <a:cs typeface="Roboto Medium"/>
              </a:rPr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338CA-8E3A-C4BA-2671-50C6E345A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“Supersonic Subatomic Java” </a:t>
            </a:r>
            <a:r>
              <a:rPr lang="en-NL" sz="2400" b="0" i="0" u="none" strike="noStrike" dirty="0">
                <a:solidFill>
                  <a:srgbClr val="000000"/>
                </a:solidFill>
                <a:effectLst/>
              </a:rPr>
              <a:t>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Kubernetes-native Java framework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Optimized for </a:t>
            </a:r>
            <a:r>
              <a:rPr lang="en-GB" sz="2400" b="0" i="0" u="none" strike="noStrike" dirty="0" err="1">
                <a:solidFill>
                  <a:srgbClr val="000000"/>
                </a:solidFill>
                <a:effectLst/>
              </a:rPr>
              <a:t>GraalVM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 &amp; OpenJDK </a:t>
            </a:r>
            <a:r>
              <a:rPr lang="en-GB" sz="2400" b="0" i="0" u="none" strike="noStrike" dirty="0" err="1">
                <a:solidFill>
                  <a:srgbClr val="000000"/>
                </a:solidFill>
                <a:effectLst/>
              </a:rPr>
              <a:t>HotSpot</a:t>
            </a:r>
            <a:endParaRPr lang="en-GB" sz="2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Designed for </a:t>
            </a: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fast </a:t>
            </a:r>
            <a:r>
              <a:rPr lang="en-GB" sz="2400" b="1" i="0" u="none" strike="noStrike" dirty="0" err="1">
                <a:solidFill>
                  <a:srgbClr val="000000"/>
                </a:solidFill>
                <a:effectLst/>
              </a:rPr>
              <a:t>startup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low memory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 and developer joy</a:t>
            </a:r>
            <a:endParaRPr lang="en-GB" sz="2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Ideal for </a:t>
            </a: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microservices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serverless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cloud environments</a:t>
            </a:r>
            <a:endParaRPr lang="en-GB" sz="2400" b="0" i="0" u="none" strike="noStrike" dirty="0">
              <a:solidFill>
                <a:srgbClr val="000000"/>
              </a:solidFill>
              <a:effectLst/>
            </a:endParaRPr>
          </a:p>
          <a:p>
            <a:pPr marL="456565" indent="-456565" algn="l"/>
            <a:endParaRPr lang="en-US" sz="26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18171-9A52-83B0-11E8-6EC33AC5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51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ADED-580B-F93A-7F47-B2EC142CF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26738-050F-DD6B-7B00-047B0EDAB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sz="2650" dirty="0"/>
              <a:t>Build-time metadata processing</a:t>
            </a:r>
            <a:br>
              <a:rPr lang="en-US" sz="2650" dirty="0"/>
            </a:br>
            <a:r>
              <a:rPr lang="en-US" sz="2650" dirty="0"/>
              <a:t>→ moves reflection, scanning, config to build phase</a:t>
            </a:r>
          </a:p>
          <a:p>
            <a:pPr marL="456565" indent="-456565"/>
            <a:r>
              <a:rPr lang="en-US" sz="2650" dirty="0"/>
              <a:t>Native Image support via </a:t>
            </a:r>
            <a:r>
              <a:rPr lang="en-US" sz="2650" dirty="0" err="1"/>
              <a:t>GraalVM</a:t>
            </a:r>
            <a:endParaRPr lang="en-US" sz="2650" dirty="0"/>
          </a:p>
          <a:p>
            <a:pPr marL="456565" indent="-456565"/>
            <a:r>
              <a:rPr lang="en-US" sz="2650" dirty="0"/>
              <a:t>Runtime </a:t>
            </a:r>
            <a:r>
              <a:rPr lang="en-US" sz="2650" dirty="0" err="1"/>
              <a:t>optimised</a:t>
            </a:r>
            <a:r>
              <a:rPr lang="en-US" sz="2650" dirty="0"/>
              <a:t>  for small footprint</a:t>
            </a:r>
          </a:p>
          <a:p>
            <a:pPr marL="456565" indent="-456565"/>
            <a:r>
              <a:rPr lang="en-US" sz="2650" dirty="0"/>
              <a:t>Unified programming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BFADC-6F24-E11D-35E7-AE6D4D8B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84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A68FFF-1B97-AD7D-87CA-32CEC764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D6D116-B094-C01D-D26E-114381CD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Why Use It?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FB726-BCD9-7295-76EE-DBE4DF41D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GB" sz="2650" dirty="0">
                <a:latin typeface="Roboto"/>
                <a:ea typeface="Roboto"/>
              </a:rPr>
              <a:t> Fast startup &amp; low memory → great for cloud/serverless</a:t>
            </a:r>
            <a:endParaRPr lang="en-US" sz="2650">
              <a:latin typeface="Roboto"/>
              <a:ea typeface="Roboto"/>
            </a:endParaRPr>
          </a:p>
          <a:p>
            <a:pPr marL="456565" indent="-456565"/>
            <a:r>
              <a:rPr lang="en-GB" dirty="0"/>
              <a:t>Live coding = higher productivity</a:t>
            </a:r>
          </a:p>
          <a:p>
            <a:pPr marL="456565" indent="-456565"/>
            <a:r>
              <a:rPr lang="en-GB" dirty="0"/>
              <a:t>Easy integration with </a:t>
            </a:r>
            <a:r>
              <a:rPr lang="en-GB" dirty="0" err="1"/>
              <a:t>MicroProfile</a:t>
            </a:r>
            <a:r>
              <a:rPr lang="en-GB" dirty="0"/>
              <a:t>, Hibernate, </a:t>
            </a:r>
            <a:r>
              <a:rPr lang="en-GB" dirty="0" err="1"/>
              <a:t>RESTEasy</a:t>
            </a:r>
            <a:r>
              <a:rPr lang="en-GB" dirty="0"/>
              <a:t>, Kafka, etc.</a:t>
            </a:r>
          </a:p>
          <a:p>
            <a:pPr marL="456565" indent="-456565"/>
            <a:r>
              <a:rPr lang="en-GB" dirty="0"/>
              <a:t>Cloud-ready out of the box (Kubernetes, OpenShift)</a:t>
            </a:r>
          </a:p>
          <a:p>
            <a:pPr marL="456565" indent="-456565"/>
            <a:r>
              <a:rPr lang="en-GB" dirty="0"/>
              <a:t>Fun to use — “Developer Joy” focus</a:t>
            </a:r>
          </a:p>
          <a:p>
            <a:pPr marL="456565" indent="-456565"/>
            <a:r>
              <a:rPr lang="en-GB" sz="2650" dirty="0">
                <a:latin typeface="Roboto"/>
                <a:ea typeface="Roboto"/>
              </a:rPr>
              <a:t>Reactivity</a:t>
            </a:r>
            <a:endParaRPr lang="en-GB" sz="2650" dirty="0"/>
          </a:p>
          <a:p>
            <a:pPr marL="456565" indent="-456565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38025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1690-FF9E-4F5B-AFCE-66313F74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>
                <a:latin typeface="Roboto Medium"/>
                <a:ea typeface="Roboto Medium"/>
              </a:rPr>
              <a:t>Developer Joy: </a:t>
            </a:r>
            <a:r>
              <a:rPr lang="en-US" sz="3700" dirty="0" err="1">
                <a:latin typeface="Roboto Medium"/>
                <a:ea typeface="Roboto Medium"/>
              </a:rPr>
              <a:t>Quarkus</a:t>
            </a:r>
            <a:r>
              <a:rPr lang="en-US" sz="3700" dirty="0">
                <a:latin typeface="Roboto Medium"/>
                <a:ea typeface="Roboto Medium"/>
              </a:rPr>
              <a:t> Dev Mode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72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036BE-088A-D1E8-4BC4-45E1F0EB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>
                <a:latin typeface="Roboto Medium"/>
                <a:ea typeface="Roboto Medium"/>
              </a:rPr>
              <a:t>Dev Mode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30837-0C37-F4C3-85F0-16F3F0463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9956" y="2726399"/>
            <a:ext cx="9921239" cy="3645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sz="2650" dirty="0" err="1"/>
              <a:t>mvn</a:t>
            </a:r>
            <a:r>
              <a:rPr lang="en-US" sz="2650" dirty="0"/>
              <a:t> </a:t>
            </a:r>
            <a:r>
              <a:rPr lang="en-US" sz="2650" dirty="0" err="1"/>
              <a:t>quarkus:dev</a:t>
            </a:r>
            <a:r>
              <a:rPr lang="en-US" sz="2650" dirty="0"/>
              <a:t> = hot reload, no redeploys</a:t>
            </a:r>
          </a:p>
          <a:p>
            <a:pPr marL="456565" indent="-456565"/>
            <a:r>
              <a:rPr lang="en-US" sz="2650" dirty="0"/>
              <a:t>Continuous testing built in (</a:t>
            </a:r>
            <a:r>
              <a:rPr lang="en-US" sz="2650" dirty="0" err="1"/>
              <a:t>quarkus</a:t>
            </a:r>
            <a:r>
              <a:rPr lang="en-US" sz="2650" dirty="0"/>
              <a:t> test)</a:t>
            </a:r>
          </a:p>
          <a:p>
            <a:pPr marL="456565" indent="-456565"/>
            <a:r>
              <a:rPr lang="en-US" sz="2650" dirty="0"/>
              <a:t>Fast feedback → faster iteration</a:t>
            </a:r>
          </a:p>
          <a:p>
            <a:pPr marL="456565" indent="-456565"/>
            <a:r>
              <a:rPr lang="en-US" sz="2650" dirty="0"/>
              <a:t>Watch files, auto-restart only changed parts</a:t>
            </a:r>
          </a:p>
          <a:p>
            <a:pPr marL="456565" indent="-456565"/>
            <a:endParaRPr lang="en-US" sz="26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6F630-36F0-70E4-F08F-6BF1C3F16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2718D4-6589-73EF-88A1-07F41897E12C}"/>
              </a:ext>
            </a:extLst>
          </p:cNvPr>
          <p:cNvSpPr txBox="1"/>
          <p:nvPr/>
        </p:nvSpPr>
        <p:spPr>
          <a:xfrm>
            <a:off x="2774731" y="300595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 fontScale="25000" lnSpcReduction="20000"/>
          </a:bodyPr>
          <a:lstStyle/>
          <a:p>
            <a:pPr algn="l"/>
            <a:endParaRPr lang="en-NL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926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31A0A-7229-53A3-1AA8-65F0B2AC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 err="1">
                <a:latin typeface="Roboto Medium"/>
                <a:ea typeface="Roboto Medium"/>
              </a:rPr>
              <a:t>Quarkus</a:t>
            </a:r>
            <a:r>
              <a:rPr lang="en-US" sz="3700" dirty="0">
                <a:latin typeface="Roboto Medium"/>
                <a:ea typeface="Roboto Medium"/>
              </a:rPr>
              <a:t> in the Cloud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FE9CC-3F83-16F5-EB63-FB6FBB9A6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sz="2650" dirty="0"/>
              <a:t>Minimal memory footprint → efficient containers</a:t>
            </a:r>
          </a:p>
          <a:p>
            <a:pPr marL="456565" indent="-456565"/>
            <a:r>
              <a:rPr lang="en-US" sz="2650" dirty="0"/>
              <a:t>Native executables → perfect for serverless functions</a:t>
            </a:r>
          </a:p>
          <a:p>
            <a:pPr marL="456565" indent="-456565"/>
            <a:r>
              <a:rPr lang="en-US" sz="2650" dirty="0"/>
              <a:t>Built-in extensions for Kubernetes, OpenShift, AWS, Azure, etc.</a:t>
            </a:r>
          </a:p>
          <a:p>
            <a:pPr marL="456565" indent="-456565"/>
            <a:r>
              <a:rPr lang="en-US" sz="2650" dirty="0"/>
              <a:t>Fast scale-up / scale-down</a:t>
            </a:r>
          </a:p>
          <a:p>
            <a:pPr marL="456565" indent="-456565"/>
            <a:endParaRPr lang="en-US" sz="26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B580A-5E61-F907-B77F-5C29118D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81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0C41-7EB9-2B97-1C13-9B30C5F10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700" dirty="0">
                <a:latin typeface="Roboto Medium"/>
                <a:ea typeface="Roboto Medium"/>
              </a:rPr>
              <a:t>Building Microservices with quarkus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32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2E16-2FCF-4410-239D-B48331FF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 err="1">
                <a:latin typeface="Roboto Medium"/>
                <a:ea typeface="Roboto Medium"/>
              </a:rPr>
              <a:t>RESTEasy</a:t>
            </a:r>
            <a:r>
              <a:rPr lang="en-US" sz="3700" dirty="0">
                <a:latin typeface="Roboto Medium"/>
                <a:ea typeface="Roboto Medium"/>
              </a:rPr>
              <a:t>, Panache</a:t>
            </a: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C9436-E65B-4699-8E42-1572883C3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456565" indent="-456565"/>
            <a:r>
              <a:rPr lang="en-US" sz="2650" b="1" dirty="0" err="1">
                <a:latin typeface="Roboto"/>
                <a:ea typeface="Roboto"/>
                <a:cs typeface="Roboto"/>
              </a:rPr>
              <a:t>RESTEasy</a:t>
            </a:r>
            <a:r>
              <a:rPr lang="en-US" sz="2650" b="1" dirty="0">
                <a:latin typeface="Roboto"/>
                <a:ea typeface="Roboto"/>
                <a:cs typeface="Roboto"/>
              </a:rPr>
              <a:t>:</a:t>
            </a:r>
            <a:r>
              <a:rPr lang="en-US" sz="2650" dirty="0">
                <a:latin typeface="Roboto"/>
                <a:ea typeface="Roboto"/>
                <a:cs typeface="Roboto"/>
              </a:rPr>
              <a:t> Simple JAX-RS REST endpoints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Consolas"/>
                <a:ea typeface="Roboto"/>
                <a:cs typeface="Arial"/>
              </a:rPr>
              <a:t>@Path</a:t>
            </a:r>
            <a:r>
              <a:rPr lang="en-US" dirty="0">
                <a:latin typeface="Roboto"/>
                <a:ea typeface="Roboto"/>
                <a:cs typeface="Roboto"/>
              </a:rPr>
              <a:t>, </a:t>
            </a:r>
            <a:r>
              <a:rPr lang="en-US" dirty="0">
                <a:latin typeface="Consolas"/>
                <a:ea typeface="Roboto"/>
                <a:cs typeface="Arial"/>
              </a:rPr>
              <a:t>@GET</a:t>
            </a:r>
            <a:r>
              <a:rPr lang="en-US" dirty="0">
                <a:latin typeface="Roboto"/>
                <a:ea typeface="Roboto"/>
                <a:cs typeface="Roboto"/>
              </a:rPr>
              <a:t>, </a:t>
            </a:r>
            <a:r>
              <a:rPr lang="en-US" dirty="0">
                <a:latin typeface="Consolas"/>
                <a:ea typeface="Roboto"/>
                <a:cs typeface="Arial"/>
              </a:rPr>
              <a:t>@POST</a:t>
            </a:r>
            <a:r>
              <a:rPr lang="en-US" dirty="0">
                <a:latin typeface="Roboto"/>
                <a:ea typeface="Roboto"/>
                <a:cs typeface="Roboto"/>
              </a:rPr>
              <a:t> for clean HTTP APIs</a:t>
            </a:r>
            <a:endParaRPr lang="en-US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Panache:</a:t>
            </a:r>
            <a:r>
              <a:rPr lang="en-US" sz="2650" dirty="0">
                <a:latin typeface="Roboto"/>
                <a:ea typeface="Roboto"/>
                <a:cs typeface="Roboto"/>
              </a:rPr>
              <a:t> Opinionated persistence layer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err="1">
                <a:latin typeface="Roboto"/>
                <a:ea typeface="Roboto"/>
                <a:cs typeface="Roboto"/>
              </a:rPr>
              <a:t>ActiveRecord</a:t>
            </a:r>
            <a:r>
              <a:rPr lang="en-US" dirty="0">
                <a:latin typeface="Roboto"/>
                <a:ea typeface="Roboto"/>
                <a:cs typeface="Roboto"/>
              </a:rPr>
              <a:t> or Repository style with minimal boilerplate</a:t>
            </a:r>
            <a:endParaRPr lang="en-US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CDI (Contexts &amp; Dependency Injection):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Consolas"/>
                <a:ea typeface="Roboto"/>
                <a:cs typeface="Arial"/>
              </a:rPr>
              <a:t>@Inject</a:t>
            </a:r>
            <a:r>
              <a:rPr lang="en-US" dirty="0">
                <a:latin typeface="Roboto"/>
                <a:ea typeface="Roboto"/>
                <a:cs typeface="Roboto"/>
              </a:rPr>
              <a:t> for wiring services, config, and beans</a:t>
            </a:r>
            <a:endParaRPr lang="en-US">
              <a:latin typeface="Roboto"/>
              <a:ea typeface="Roboto"/>
              <a:cs typeface="Arial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Scoped beans for request, application, etc.</a:t>
            </a:r>
            <a:endParaRPr lang="en-US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Config:</a:t>
            </a:r>
            <a:r>
              <a:rPr lang="en-US" sz="2650" dirty="0">
                <a:latin typeface="Roboto"/>
                <a:ea typeface="Roboto"/>
                <a:cs typeface="Roboto"/>
              </a:rPr>
              <a:t> Unified configuration system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err="1">
                <a:latin typeface="Consolas"/>
                <a:ea typeface="Roboto"/>
                <a:cs typeface="Arial"/>
              </a:rPr>
              <a:t>application.properties</a:t>
            </a:r>
            <a:r>
              <a:rPr lang="en-US" dirty="0">
                <a:latin typeface="Roboto"/>
                <a:ea typeface="Roboto"/>
                <a:cs typeface="Roboto"/>
              </a:rPr>
              <a:t> / </a:t>
            </a:r>
            <a:r>
              <a:rPr lang="en-US" err="1">
                <a:latin typeface="Consolas"/>
                <a:ea typeface="Roboto"/>
                <a:cs typeface="Arial"/>
              </a:rPr>
              <a:t>application.yaml</a:t>
            </a:r>
            <a:endParaRPr lang="en-US">
              <a:ea typeface="Roboto"/>
              <a:cs typeface="Arial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Profile-specific config for dev / test / prod</a:t>
            </a:r>
            <a:endParaRPr lang="en-US">
              <a:latin typeface="Roboto"/>
              <a:ea typeface="Roboto"/>
              <a:cs typeface="Arial"/>
            </a:endParaRPr>
          </a:p>
          <a:p>
            <a:pPr marL="0" indent="0">
              <a:buNone/>
            </a:pPr>
            <a:endParaRPr lang="en-US" sz="2650" dirty="0"/>
          </a:p>
          <a:p>
            <a:pPr marL="456565" indent="-45656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8F878-DE2A-E56C-2B55-E434396A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75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86D612-227A-E027-D73A-4BBF1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C1EB4A-2B0C-036E-50B5-4B31B9BC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700" dirty="0">
                <a:latin typeface="Roboto Medium"/>
                <a:ea typeface="Roboto Medium"/>
                <a:cs typeface="Roboto Medium"/>
              </a:rPr>
              <a:t>How </a:t>
            </a:r>
            <a:r>
              <a:rPr lang="en-US" sz="3700" dirty="0" err="1">
                <a:latin typeface="Roboto Medium"/>
                <a:ea typeface="Roboto Medium"/>
                <a:cs typeface="Roboto Medium"/>
              </a:rPr>
              <a:t>Quarkus</a:t>
            </a:r>
            <a:r>
              <a:rPr lang="en-US" sz="3700" dirty="0">
                <a:latin typeface="Roboto Medium"/>
                <a:ea typeface="Roboto Medium"/>
                <a:cs typeface="Roboto Medium"/>
              </a:rPr>
              <a:t> Simplifies Microservices Development</a:t>
            </a:r>
            <a:endParaRPr lang="en-US" dirty="0">
              <a:latin typeface="Roboto Medium"/>
              <a:ea typeface="Roboto Medium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F8327-DE2B-E683-055F-C718831AB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Fast startup &amp; low memory footprint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Ideal for microservices and serverless</a:t>
            </a:r>
            <a:endParaRPr lang="en-US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Dev services &amp; auto-config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Spin up DBs / Kafka containers automatically in dev</a:t>
            </a:r>
            <a:endParaRPr lang="en-US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Consistent developer experience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Same code works in JVM mode &amp; native</a:t>
            </a:r>
            <a:endParaRPr lang="en-US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Built-in Kubernetes / OpenShift support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Extensions for health checks, metrics, config, tracing</a:t>
            </a:r>
            <a:endParaRPr lang="en-US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Opinionated, but flexible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Sensible defaults, override only when needed</a:t>
            </a:r>
            <a:endParaRPr lang="en-US">
              <a:latin typeface="Roboto"/>
              <a:ea typeface="Roboto"/>
              <a:cs typeface="Arial"/>
            </a:endParaRPr>
          </a:p>
          <a:p>
            <a:pPr marL="456565" indent="-456565"/>
            <a:endParaRPr lang="en-US" sz="2650" dirty="0"/>
          </a:p>
        </p:txBody>
      </p:sp>
    </p:spTree>
    <p:extLst>
      <p:ext uri="{BB962C8B-B14F-4D97-AF65-F5344CB8AC3E}">
        <p14:creationId xmlns:p14="http://schemas.microsoft.com/office/powerpoint/2010/main" val="1118581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C6957-F460-3DA2-972E-77DFBB0C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700" dirty="0">
                <a:latin typeface="Roboto Medium"/>
                <a:ea typeface="Roboto Medium"/>
              </a:rPr>
              <a:t>Reactive programming with quarkus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296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C92D-E188-3654-0301-9FA27B199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>
                <a:latin typeface="Roboto Medium"/>
                <a:ea typeface="Roboto Medium"/>
                <a:cs typeface="Roboto Medium"/>
              </a:rPr>
              <a:t>Reactive Programming with </a:t>
            </a:r>
            <a:r>
              <a:rPr lang="en-US" sz="3700" dirty="0" err="1">
                <a:latin typeface="Roboto Medium"/>
                <a:ea typeface="Roboto Medium"/>
                <a:cs typeface="Roboto Medium"/>
              </a:rPr>
              <a:t>Quarkus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2F107-01F7-60DE-1D0B-1AF078D92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Why reactive?</a:t>
            </a:r>
          </a:p>
          <a:p>
            <a:pPr marL="989965" lvl="1" indent="-380365"/>
            <a:r>
              <a:rPr lang="en-US" dirty="0">
                <a:latin typeface="Roboto"/>
                <a:ea typeface="Roboto"/>
                <a:cs typeface="Roboto"/>
              </a:rPr>
              <a:t>Handle many concurrent requests with fewer threads</a:t>
            </a:r>
            <a:endParaRPr lang="en-US" dirty="0">
              <a:cs typeface="Roboto" panose="02000000000000000000" pitchFamily="2" charset="0"/>
            </a:endParaRPr>
          </a:p>
          <a:p>
            <a:pPr marL="989965" lvl="1" indent="-380365"/>
            <a:r>
              <a:rPr lang="en-US" dirty="0">
                <a:latin typeface="Roboto"/>
                <a:ea typeface="Roboto"/>
                <a:cs typeface="Roboto"/>
              </a:rPr>
              <a:t>Better resource usage for I/O-heavy services</a:t>
            </a:r>
            <a:endParaRPr lang="en-US" dirty="0">
              <a:cs typeface="Roboto" panose="02000000000000000000" pitchFamily="2" charset="0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Mutiny – </a:t>
            </a:r>
            <a:r>
              <a:rPr lang="en-US" sz="2650" b="1" dirty="0" err="1">
                <a:latin typeface="Roboto"/>
                <a:ea typeface="Roboto"/>
                <a:cs typeface="Roboto"/>
              </a:rPr>
              <a:t>Quarkus</a:t>
            </a:r>
            <a:r>
              <a:rPr lang="en-US" sz="2650" b="1" dirty="0">
                <a:latin typeface="Roboto"/>
                <a:ea typeface="Roboto"/>
                <a:cs typeface="Roboto"/>
              </a:rPr>
              <a:t> reactive programming API</a:t>
            </a:r>
            <a:endParaRPr lang="en-US" dirty="0"/>
          </a:p>
          <a:p>
            <a:pPr marL="989965" lvl="1" indent="-380365"/>
            <a:r>
              <a:rPr lang="en-US" dirty="0">
                <a:latin typeface="Roboto"/>
                <a:ea typeface="Roboto"/>
                <a:cs typeface="Roboto"/>
              </a:rPr>
              <a:t>Types: </a:t>
            </a:r>
            <a:r>
              <a:rPr lang="en-US" dirty="0">
                <a:latin typeface="Consolas"/>
                <a:ea typeface="Roboto"/>
                <a:cs typeface="Roboto"/>
              </a:rPr>
              <a:t>Uni&lt;T&gt;</a:t>
            </a:r>
            <a:r>
              <a:rPr lang="en-US" dirty="0">
                <a:latin typeface="Roboto"/>
                <a:ea typeface="Roboto"/>
                <a:cs typeface="Roboto"/>
              </a:rPr>
              <a:t> (single result), </a:t>
            </a:r>
            <a:r>
              <a:rPr lang="en-US" dirty="0">
                <a:latin typeface="Consolas"/>
                <a:ea typeface="Roboto"/>
                <a:cs typeface="Roboto"/>
              </a:rPr>
              <a:t>Multi&lt;T&gt;</a:t>
            </a:r>
            <a:r>
              <a:rPr lang="en-US" dirty="0">
                <a:latin typeface="Roboto"/>
                <a:ea typeface="Roboto"/>
                <a:cs typeface="Roboto"/>
              </a:rPr>
              <a:t> (stream)</a:t>
            </a:r>
            <a:endParaRPr lang="en-US" dirty="0">
              <a:cs typeface="Roboto" panose="02000000000000000000" pitchFamily="2" charset="0"/>
            </a:endParaRPr>
          </a:p>
          <a:p>
            <a:pPr marL="989965" lvl="1" indent="-380365"/>
            <a:r>
              <a:rPr lang="en-US" dirty="0">
                <a:latin typeface="Roboto"/>
                <a:ea typeface="Roboto"/>
                <a:cs typeface="Roboto"/>
              </a:rPr>
              <a:t>Fluent, event-driven pipelines</a:t>
            </a:r>
            <a:endParaRPr lang="en-US" dirty="0">
              <a:cs typeface="Roboto" panose="02000000000000000000" pitchFamily="2" charset="0"/>
            </a:endParaRPr>
          </a:p>
          <a:p>
            <a:pPr marL="456565" indent="-456565"/>
            <a:endParaRPr lang="en-US" sz="2650" b="1" dirty="0">
              <a:latin typeface="Roboto"/>
              <a:ea typeface="Roboto"/>
              <a:cs typeface="Robo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4B259-0B85-BD06-368E-2E5C2D4F6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64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F7F5ED-6198-7885-250B-57595AF0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44FEC2-BB9F-5297-3927-2F73B9575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00" dirty="0">
                <a:latin typeface="Roboto Medium"/>
                <a:ea typeface="Roboto Medium"/>
                <a:cs typeface="Roboto Medium"/>
              </a:rPr>
              <a:t>Reactive Programming with </a:t>
            </a:r>
            <a:r>
              <a:rPr lang="en-US" sz="3700" dirty="0" err="1">
                <a:latin typeface="Roboto Medium"/>
                <a:ea typeface="Roboto Medium"/>
                <a:cs typeface="Roboto Medium"/>
              </a:rPr>
              <a:t>Quarkus</a:t>
            </a:r>
            <a:endParaRPr lang="en-US" sz="3700" dirty="0" err="1">
              <a:solidFill>
                <a:srgbClr val="000000"/>
              </a:solidFill>
              <a:cs typeface="Roboto Medium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C957A-642A-6F73-1258-3F9320D68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6565" indent="-456565"/>
            <a:r>
              <a:rPr lang="en-US" sz="2650" b="1" dirty="0">
                <a:cs typeface="Roboto"/>
              </a:rPr>
              <a:t>Reactive REST &amp; messaging</a:t>
            </a:r>
            <a:endParaRPr lang="en-US" dirty="0"/>
          </a:p>
          <a:p>
            <a:pPr marL="989965" lvl="1" indent="-380365"/>
            <a:r>
              <a:rPr lang="en-US" dirty="0" err="1">
                <a:latin typeface="Roboto"/>
                <a:ea typeface="Roboto"/>
                <a:cs typeface="Roboto"/>
              </a:rPr>
              <a:t>RESTEasy</a:t>
            </a:r>
            <a:r>
              <a:rPr lang="en-US" dirty="0">
                <a:latin typeface="Roboto"/>
                <a:ea typeface="Roboto"/>
                <a:cs typeface="Roboto"/>
              </a:rPr>
              <a:t> Reactive for high-performance HTTP</a:t>
            </a:r>
            <a:endParaRPr lang="en-US" dirty="0">
              <a:latin typeface="Roboto"/>
              <a:ea typeface="Roboto"/>
              <a:cs typeface="Arial"/>
            </a:endParaRPr>
          </a:p>
          <a:p>
            <a:pPr marL="989965" lvl="1" indent="-380365"/>
            <a:r>
              <a:rPr lang="en-US" dirty="0">
                <a:latin typeface="Roboto"/>
                <a:ea typeface="Roboto"/>
                <a:cs typeface="Roboto"/>
              </a:rPr>
              <a:t>Integration with Kafka, AMQP, etc.</a:t>
            </a:r>
            <a:endParaRPr lang="en-US" dirty="0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cs typeface="Roboto"/>
              </a:rPr>
              <a:t>Non-blocking I/O</a:t>
            </a:r>
            <a:endParaRPr lang="en-US" dirty="0"/>
          </a:p>
          <a:p>
            <a:pPr marL="989965" lvl="1" indent="-380365"/>
            <a:r>
              <a:rPr lang="en-US" dirty="0">
                <a:latin typeface="Roboto"/>
                <a:ea typeface="Roboto"/>
                <a:cs typeface="Roboto"/>
              </a:rPr>
              <a:t>Based on </a:t>
            </a:r>
            <a:r>
              <a:rPr lang="en-US" dirty="0" err="1">
                <a:latin typeface="Roboto"/>
                <a:ea typeface="Roboto"/>
                <a:cs typeface="Roboto"/>
              </a:rPr>
              <a:t>Vert.x</a:t>
            </a:r>
            <a:r>
              <a:rPr lang="en-US" dirty="0">
                <a:latin typeface="Roboto"/>
                <a:ea typeface="Roboto"/>
                <a:cs typeface="Roboto"/>
              </a:rPr>
              <a:t> under the hood</a:t>
            </a:r>
            <a:endParaRPr lang="en-US" dirty="0">
              <a:latin typeface="Roboto"/>
              <a:ea typeface="Roboto"/>
              <a:cs typeface="Arial"/>
            </a:endParaRPr>
          </a:p>
          <a:p>
            <a:pPr marL="989965" lvl="1" indent="-380365"/>
            <a:r>
              <a:rPr lang="en-US" dirty="0">
                <a:latin typeface="Roboto"/>
                <a:ea typeface="Roboto"/>
                <a:cs typeface="Roboto"/>
              </a:rPr>
              <a:t>Avoids blocking threads for network / DB calls</a:t>
            </a:r>
            <a:endParaRPr lang="en-US" dirty="0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cs typeface="Roboto"/>
              </a:rPr>
              <a:t>Use cases</a:t>
            </a:r>
            <a:endParaRPr lang="en-US" dirty="0"/>
          </a:p>
          <a:p>
            <a:pPr marL="989965" lvl="1" indent="-380365"/>
            <a:r>
              <a:rPr lang="en-US" dirty="0">
                <a:latin typeface="Roboto"/>
                <a:ea typeface="Roboto"/>
                <a:cs typeface="Roboto"/>
              </a:rPr>
              <a:t>Streaming APIs, event-driven architectures, high-throughput services</a:t>
            </a:r>
            <a:endParaRPr lang="en-US" dirty="0">
              <a:latin typeface="Roboto"/>
              <a:ea typeface="Roboto"/>
              <a:cs typeface="Arial"/>
            </a:endParaRPr>
          </a:p>
          <a:p>
            <a:pPr marL="456565" indent="-456565"/>
            <a:endParaRPr lang="en-US" sz="2650" dirty="0"/>
          </a:p>
        </p:txBody>
      </p:sp>
    </p:spTree>
    <p:extLst>
      <p:ext uri="{BB962C8B-B14F-4D97-AF65-F5344CB8AC3E}">
        <p14:creationId xmlns:p14="http://schemas.microsoft.com/office/powerpoint/2010/main" val="4207262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C6FEE-5081-9F71-92B3-8C712378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Quarkus with hibernate</a:t>
            </a:r>
          </a:p>
        </p:txBody>
      </p:sp>
    </p:spTree>
    <p:extLst>
      <p:ext uri="{BB962C8B-B14F-4D97-AF65-F5344CB8AC3E}">
        <p14:creationId xmlns:p14="http://schemas.microsoft.com/office/powerpoint/2010/main" val="2255810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6B47B5-A244-B17B-468B-1AF01B76D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3841CE-313E-3F58-96BF-4AC09DBD9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 err="1">
                <a:latin typeface="Roboto Medium"/>
                <a:ea typeface="Roboto Medium"/>
                <a:cs typeface="Roboto Medium"/>
              </a:rPr>
              <a:t>Quarkus</a:t>
            </a:r>
            <a:r>
              <a:rPr lang="en-US" sz="3700" dirty="0">
                <a:latin typeface="Roboto Medium"/>
                <a:ea typeface="Roboto Medium"/>
                <a:cs typeface="Roboto Medium"/>
              </a:rPr>
              <a:t> &amp; Hibernate ORM / Panache</a:t>
            </a:r>
            <a:endParaRPr lang="en-US" dirty="0">
              <a:latin typeface="Roboto Medium"/>
              <a:ea typeface="Roboto Medium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E5A16-88E3-9145-1F29-441308DA9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Hibernate ORM integration</a:t>
            </a:r>
            <a:endParaRPr lang="en-NL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JPA annotations: </a:t>
            </a:r>
            <a:r>
              <a:rPr lang="en-US" dirty="0">
                <a:latin typeface="Consolas"/>
                <a:ea typeface="Roboto"/>
                <a:cs typeface="Arial"/>
              </a:rPr>
              <a:t>@Entity</a:t>
            </a:r>
            <a:r>
              <a:rPr lang="en-US" dirty="0">
                <a:latin typeface="Roboto"/>
                <a:ea typeface="Roboto"/>
                <a:cs typeface="Roboto"/>
              </a:rPr>
              <a:t>, </a:t>
            </a:r>
            <a:r>
              <a:rPr lang="en-US" dirty="0">
                <a:latin typeface="Consolas"/>
                <a:ea typeface="Roboto"/>
                <a:cs typeface="Arial"/>
              </a:rPr>
              <a:t>@Id</a:t>
            </a:r>
            <a:r>
              <a:rPr lang="en-US" dirty="0">
                <a:latin typeface="Roboto"/>
                <a:ea typeface="Roboto"/>
                <a:cs typeface="Roboto"/>
              </a:rPr>
              <a:t>, </a:t>
            </a:r>
            <a:r>
              <a:rPr lang="en-US" dirty="0">
                <a:latin typeface="Consolas"/>
                <a:ea typeface="Roboto"/>
                <a:cs typeface="Arial"/>
              </a:rPr>
              <a:t>@OneToMany</a:t>
            </a:r>
            <a:r>
              <a:rPr lang="en-US" dirty="0">
                <a:latin typeface="Roboto"/>
                <a:ea typeface="Roboto"/>
                <a:cs typeface="Roboto"/>
              </a:rPr>
              <a:t>, …</a:t>
            </a:r>
            <a:endParaRPr lang="en-NL">
              <a:latin typeface="Roboto"/>
              <a:ea typeface="Roboto"/>
              <a:cs typeface="Arial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Works in JVM &amp; native mode (with some constraints)</a:t>
            </a:r>
            <a:endParaRPr lang="en-NL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Panache Entity / Repository</a:t>
            </a:r>
            <a:endParaRPr lang="en-NL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Less boilerplate: built-in </a:t>
            </a:r>
            <a:r>
              <a:rPr lang="en-US" dirty="0">
                <a:latin typeface="Consolas"/>
                <a:ea typeface="Roboto"/>
              </a:rPr>
              <a:t>persist()</a:t>
            </a:r>
            <a:r>
              <a:rPr lang="en-US" dirty="0">
                <a:latin typeface="Roboto"/>
                <a:ea typeface="Roboto"/>
                <a:cs typeface="Roboto"/>
              </a:rPr>
              <a:t>, </a:t>
            </a:r>
            <a:r>
              <a:rPr lang="en-US" dirty="0">
                <a:latin typeface="Consolas"/>
                <a:ea typeface="Roboto"/>
              </a:rPr>
              <a:t>find()</a:t>
            </a:r>
            <a:r>
              <a:rPr lang="en-US" dirty="0">
                <a:latin typeface="Roboto"/>
                <a:ea typeface="Roboto"/>
                <a:cs typeface="Roboto"/>
              </a:rPr>
              <a:t>, </a:t>
            </a:r>
            <a:r>
              <a:rPr lang="en-US" err="1">
                <a:latin typeface="Consolas"/>
                <a:ea typeface="Roboto"/>
              </a:rPr>
              <a:t>listAll</a:t>
            </a:r>
            <a:r>
              <a:rPr lang="en-US" dirty="0">
                <a:latin typeface="Consolas"/>
                <a:ea typeface="Roboto"/>
              </a:rPr>
              <a:t>()</a:t>
            </a:r>
            <a:endParaRPr lang="en-NL" dirty="0"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err="1">
                <a:latin typeface="Roboto"/>
                <a:ea typeface="Roboto"/>
                <a:cs typeface="Roboto"/>
              </a:rPr>
              <a:t>ActiveRecord</a:t>
            </a:r>
            <a:r>
              <a:rPr lang="en-US" dirty="0">
                <a:latin typeface="Roboto"/>
                <a:ea typeface="Roboto"/>
                <a:cs typeface="Roboto"/>
              </a:rPr>
              <a:t> style (</a:t>
            </a:r>
            <a:r>
              <a:rPr lang="en-US" err="1">
                <a:latin typeface="Consolas"/>
                <a:ea typeface="Roboto"/>
                <a:cs typeface="Arial"/>
              </a:rPr>
              <a:t>MyEntity.find</a:t>
            </a:r>
            <a:r>
              <a:rPr lang="en-US" dirty="0">
                <a:latin typeface="Consolas"/>
                <a:ea typeface="Roboto"/>
                <a:cs typeface="Arial"/>
              </a:rPr>
              <a:t>("name", name)</a:t>
            </a:r>
            <a:r>
              <a:rPr lang="en-US" dirty="0">
                <a:latin typeface="Roboto"/>
                <a:ea typeface="Roboto"/>
                <a:cs typeface="Roboto"/>
              </a:rPr>
              <a:t>)</a:t>
            </a:r>
            <a:endParaRPr lang="en-NL">
              <a:latin typeface="Roboto"/>
              <a:ea typeface="Roboto"/>
              <a:cs typeface="Arial"/>
            </a:endParaRPr>
          </a:p>
          <a:p>
            <a:pPr marL="456565" indent="-456565"/>
            <a:endParaRPr lang="en-NL" sz="2650" dirty="0"/>
          </a:p>
        </p:txBody>
      </p:sp>
    </p:spTree>
    <p:extLst>
      <p:ext uri="{BB962C8B-B14F-4D97-AF65-F5344CB8AC3E}">
        <p14:creationId xmlns:p14="http://schemas.microsoft.com/office/powerpoint/2010/main" val="3851022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C15E4E-9572-D3A4-9C02-2B320711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389128-8EBC-F488-FB39-390BCE04D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00" dirty="0" err="1">
                <a:latin typeface="Roboto Medium"/>
                <a:ea typeface="Roboto Medium"/>
                <a:cs typeface="Roboto Medium"/>
              </a:rPr>
              <a:t>Quarkus</a:t>
            </a:r>
            <a:r>
              <a:rPr lang="en-US" sz="3700" dirty="0">
                <a:latin typeface="Roboto Medium"/>
                <a:ea typeface="Roboto Medium"/>
                <a:cs typeface="Roboto Medium"/>
              </a:rPr>
              <a:t> &amp; Hibernate ORM / Panache</a:t>
            </a:r>
            <a:endParaRPr lang="en-US" sz="3700" dirty="0">
              <a:solidFill>
                <a:srgbClr val="000000"/>
              </a:solidFill>
              <a:cs typeface="Roboto Medium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61B6F-2A7F-7509-425E-D4340FAF5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Database support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Arial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PostgreSQL, MySQL/MariaDB, Oracle, etc.</a:t>
            </a:r>
            <a:endParaRPr lang="en-US" dirty="0">
              <a:latin typeface="Roboto"/>
              <a:ea typeface="Roboto"/>
              <a:cs typeface="Arial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Dev Services for automatic dev DB startup</a:t>
            </a:r>
            <a:endParaRPr lang="en-US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Schema management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Consolas"/>
                <a:ea typeface="Roboto"/>
                <a:cs typeface="Arial"/>
              </a:rPr>
              <a:t>hibernate.hbm2ddl.auto</a:t>
            </a:r>
            <a:r>
              <a:rPr lang="en-US" dirty="0">
                <a:latin typeface="Roboto"/>
                <a:ea typeface="Roboto"/>
                <a:cs typeface="Roboto"/>
              </a:rPr>
              <a:t> for simple setups</a:t>
            </a:r>
            <a:endParaRPr lang="en-US">
              <a:latin typeface="Roboto"/>
              <a:ea typeface="Roboto"/>
              <a:cs typeface="Arial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Or use Flyway / Liquibase for serious migrations</a:t>
            </a:r>
            <a:endParaRPr lang="en-US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Caching &amp; performance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Second-level cache, query tuning, lazy loading</a:t>
            </a:r>
            <a:endParaRPr lang="en-US" dirty="0">
              <a:latin typeface="Roboto"/>
              <a:ea typeface="Roboto"/>
            </a:endParaRPr>
          </a:p>
          <a:p>
            <a:pPr marL="456565" indent="-456565"/>
            <a:endParaRPr lang="en-US" sz="2650" dirty="0"/>
          </a:p>
        </p:txBody>
      </p:sp>
    </p:spTree>
    <p:extLst>
      <p:ext uri="{BB962C8B-B14F-4D97-AF65-F5344CB8AC3E}">
        <p14:creationId xmlns:p14="http://schemas.microsoft.com/office/powerpoint/2010/main" val="3342323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3D0B5-6C03-FBD7-BC98-5053A0D8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Comparison to other Java Frameworks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666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97A0C-76A5-3843-1AC3-EE959692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212" y="1530654"/>
            <a:ext cx="9921237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 err="1"/>
              <a:t>Quarkus</a:t>
            </a:r>
            <a:r>
              <a:rPr lang="en-GB" dirty="0"/>
              <a:t> vs Spring Boot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2D9E7-FE09-5093-4541-82F6D91B2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428" y="2673654"/>
            <a:ext cx="9921239" cy="33792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GB" sz="2650" dirty="0">
                <a:latin typeface="Roboto"/>
                <a:ea typeface="Roboto"/>
              </a:rPr>
              <a:t>	-&gt; Spring Boot is </a:t>
            </a: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</a:rPr>
              <a:t>a mature Java framework that simplifies building production-ready applications by auto-configuring Spring components providing embedded servers, and offering a  vast ecosystem of integrations.</a:t>
            </a:r>
            <a:r>
              <a:rPr lang="en-GB" sz="2650" dirty="0">
                <a:latin typeface="Roboto"/>
                <a:ea typeface="Roboto"/>
              </a:rPr>
              <a:t> </a:t>
            </a:r>
            <a:endParaRPr lang="en-GB" dirty="0"/>
          </a:p>
          <a:p>
            <a:pPr marL="0" indent="0">
              <a:buNone/>
            </a:pPr>
            <a:r>
              <a:rPr lang="en-GB" sz="2650" dirty="0">
                <a:latin typeface="Roboto"/>
                <a:ea typeface="Roboto"/>
              </a:rPr>
              <a:t> -&gt; In action </a:t>
            </a:r>
            <a:r>
              <a:rPr lang="en-GB" sz="2650" dirty="0" err="1">
                <a:solidFill>
                  <a:srgbClr val="663366"/>
                </a:solidFill>
                <a:latin typeface="Roboto"/>
                <a:ea typeface="Roboto"/>
              </a:rPr>
              <a:t>Quarkus</a:t>
            </a: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</a:rPr>
              <a:t> used about 15%  of the CPU from the previous Spring solution, about 12% of the memory from before and on Startup a great difference from 15 seconds to 1-2 seconds. </a:t>
            </a:r>
          </a:p>
          <a:p>
            <a:pPr marL="0" indent="0">
              <a:buNone/>
            </a:pPr>
            <a:endParaRPr lang="en-GB" sz="2650" dirty="0">
              <a:latin typeface="Roboto"/>
              <a:ea typeface="Roboto"/>
            </a:endParaRPr>
          </a:p>
          <a:p>
            <a:pPr marL="0" indent="0">
              <a:buNone/>
            </a:pPr>
            <a:r>
              <a:rPr lang="en-GB" sz="2650" dirty="0">
                <a:latin typeface="Roboto"/>
                <a:ea typeface="Roboto"/>
              </a:rPr>
              <a:t> </a:t>
            </a:r>
          </a:p>
          <a:p>
            <a:pPr marL="0" indent="0">
              <a:buNone/>
            </a:pP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33EE7-CC2D-155A-3D6D-85DC1674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74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CD3D77-4CC4-B756-8838-F1C4675E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AABC9A-02A0-59C7-4CCD-D14709F13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700" dirty="0" err="1">
                <a:latin typeface="Roboto Medium"/>
                <a:ea typeface="Roboto Medium"/>
              </a:rPr>
              <a:t>Quarkus</a:t>
            </a:r>
            <a:r>
              <a:rPr lang="en-GB" sz="3700" dirty="0">
                <a:latin typeface="Roboto Medium"/>
                <a:ea typeface="Roboto Medium"/>
              </a:rPr>
              <a:t> vs Micronaut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47A06-04A9-94F0-501C-465051211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>
              <a:lnSpc>
                <a:spcPct val="90000"/>
              </a:lnSpc>
              <a:spcBef>
                <a:spcPts val="20"/>
              </a:spcBef>
            </a:pP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</a:rPr>
              <a:t>-&gt; Micronaut is a lightweight, JVM-based framework designed for fast startup and low memory usage, using ahead-of-time dependency injection instead of reflection.</a:t>
            </a:r>
            <a:endParaRPr lang="en-GB" dirty="0">
              <a:solidFill>
                <a:srgbClr val="663366"/>
              </a:solidFill>
            </a:endParaRPr>
          </a:p>
          <a:p>
            <a:pPr marL="456565" indent="-456565">
              <a:lnSpc>
                <a:spcPct val="90000"/>
              </a:lnSpc>
              <a:spcBef>
                <a:spcPts val="20"/>
              </a:spcBef>
            </a:pP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  <a:cs typeface="Roboto"/>
              </a:rPr>
              <a:t>-&gt; In practice Quarkus still boots faster—especially in native mode—often by 20–40%, and provides richer developer tools like Dev UI and continuous testing.</a:t>
            </a:r>
            <a:endParaRPr lang="en-GB" dirty="0"/>
          </a:p>
          <a:p>
            <a:pPr marL="456565" indent="-456565">
              <a:lnSpc>
                <a:spcPct val="90000"/>
              </a:lnSpc>
              <a:spcBef>
                <a:spcPts val="20"/>
              </a:spcBef>
            </a:pP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  <a:cs typeface="Roboto"/>
              </a:rPr>
              <a:t>-&gt; </a:t>
            </a:r>
            <a:r>
              <a:rPr lang="en-GB" sz="2650" dirty="0" err="1">
                <a:solidFill>
                  <a:srgbClr val="663366"/>
                </a:solidFill>
                <a:latin typeface="Roboto"/>
                <a:ea typeface="Roboto"/>
                <a:cs typeface="Roboto"/>
              </a:rPr>
              <a:t>Quarkus</a:t>
            </a: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  <a:cs typeface="Roboto"/>
              </a:rPr>
              <a:t> generally delivers slightly lower memory consumption under load and offers a broader cloud-native extension ecosystem out of the box.</a:t>
            </a:r>
            <a:endParaRPr lang="en-GB" dirty="0"/>
          </a:p>
          <a:p>
            <a:pPr marL="456565" indent="-456565"/>
            <a:endParaRPr lang="en-GB" sz="2650" dirty="0"/>
          </a:p>
        </p:txBody>
      </p:sp>
    </p:spTree>
    <p:extLst>
      <p:ext uri="{BB962C8B-B14F-4D97-AF65-F5344CB8AC3E}">
        <p14:creationId xmlns:p14="http://schemas.microsoft.com/office/powerpoint/2010/main" val="1530537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94E94F-D606-6DA2-8669-EF7AD1D9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133793-B80D-0D37-C8EE-4D8A4E95B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700" dirty="0" err="1">
                <a:latin typeface="Roboto Medium"/>
                <a:ea typeface="Roboto Medium"/>
              </a:rPr>
              <a:t>Quarkus</a:t>
            </a:r>
            <a:r>
              <a:rPr lang="en-GB" sz="3700" dirty="0">
                <a:latin typeface="Roboto Medium"/>
                <a:ea typeface="Roboto Medium"/>
              </a:rPr>
              <a:t> vs Helidon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5AD30-292B-CF53-CD82-3184929FB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>
              <a:lnSpc>
                <a:spcPct val="90000"/>
              </a:lnSpc>
              <a:spcBef>
                <a:spcPts val="20"/>
              </a:spcBef>
            </a:pP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</a:rPr>
              <a:t>-&gt; Helidon is Oracle’s cloud-native Java framework, offered in two </a:t>
            </a:r>
            <a:r>
              <a:rPr lang="en-GB" sz="2650" dirty="0" err="1">
                <a:solidFill>
                  <a:srgbClr val="663366"/>
                </a:solidFill>
                <a:latin typeface="Roboto"/>
                <a:ea typeface="Roboto"/>
              </a:rPr>
              <a:t>flavors</a:t>
            </a: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</a:rPr>
              <a:t>: Helidon SE (pure reactive) and Helidon MP (</a:t>
            </a:r>
            <a:r>
              <a:rPr lang="en-GB" sz="2650" dirty="0" err="1">
                <a:solidFill>
                  <a:srgbClr val="663366"/>
                </a:solidFill>
                <a:latin typeface="Roboto"/>
                <a:ea typeface="Roboto"/>
              </a:rPr>
              <a:t>MicroProfile</a:t>
            </a: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</a:rPr>
              <a:t>-based).</a:t>
            </a:r>
            <a:endParaRPr lang="en-GB" dirty="0">
              <a:solidFill>
                <a:srgbClr val="663366"/>
              </a:solidFill>
            </a:endParaRPr>
          </a:p>
          <a:p>
            <a:pPr marL="456565" indent="-456565">
              <a:lnSpc>
                <a:spcPct val="90000"/>
              </a:lnSpc>
              <a:spcBef>
                <a:spcPts val="20"/>
              </a:spcBef>
            </a:pP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  <a:cs typeface="Roboto"/>
              </a:rPr>
              <a:t>-&gt; </a:t>
            </a:r>
            <a:r>
              <a:rPr lang="en-GB" sz="2650" dirty="0" err="1">
                <a:solidFill>
                  <a:srgbClr val="663366"/>
                </a:solidFill>
                <a:latin typeface="Roboto"/>
                <a:ea typeface="Roboto"/>
                <a:cs typeface="Roboto"/>
              </a:rPr>
              <a:t>Quarkus</a:t>
            </a: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  <a:cs typeface="Roboto"/>
              </a:rPr>
              <a:t> typically achieves faster startup and lower runtime memory usage due to deeper build-time optimizations and native-first design.</a:t>
            </a:r>
            <a:endParaRPr lang="en-GB" dirty="0"/>
          </a:p>
          <a:p>
            <a:pPr marL="456565" indent="-456565">
              <a:lnSpc>
                <a:spcPct val="90000"/>
              </a:lnSpc>
              <a:spcBef>
                <a:spcPts val="20"/>
              </a:spcBef>
            </a:pP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  <a:cs typeface="Roboto"/>
              </a:rPr>
              <a:t>-&gt; </a:t>
            </a:r>
            <a:r>
              <a:rPr lang="en-GB" sz="2650" dirty="0" err="1">
                <a:solidFill>
                  <a:srgbClr val="663366"/>
                </a:solidFill>
                <a:latin typeface="Roboto"/>
                <a:ea typeface="Roboto"/>
                <a:cs typeface="Roboto"/>
              </a:rPr>
              <a:t>Quarkus</a:t>
            </a: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  <a:cs typeface="Roboto"/>
              </a:rPr>
              <a:t> provides a more extensive extension </a:t>
            </a:r>
            <a:r>
              <a:rPr lang="en-GB" sz="2650" dirty="0" err="1">
                <a:solidFill>
                  <a:srgbClr val="663366"/>
                </a:solidFill>
                <a:latin typeface="Roboto"/>
                <a:ea typeface="Roboto"/>
                <a:cs typeface="Roboto"/>
              </a:rPr>
              <a:t>catalog</a:t>
            </a:r>
            <a:r>
              <a:rPr lang="en-GB" sz="2650" dirty="0">
                <a:solidFill>
                  <a:srgbClr val="663366"/>
                </a:solidFill>
                <a:latin typeface="Roboto"/>
                <a:ea typeface="Roboto"/>
                <a:cs typeface="Roboto"/>
              </a:rPr>
              <a:t>, better tooling (Dev Mode, Dev UI), and smoother developer experience for Kubernetes and serverless workloads.</a:t>
            </a:r>
            <a:endParaRPr lang="en-GB" dirty="0"/>
          </a:p>
          <a:p>
            <a:pPr marL="456565" indent="-456565"/>
            <a:endParaRPr lang="en-GB" sz="2650" dirty="0"/>
          </a:p>
        </p:txBody>
      </p:sp>
    </p:spTree>
    <p:extLst>
      <p:ext uri="{BB962C8B-B14F-4D97-AF65-F5344CB8AC3E}">
        <p14:creationId xmlns:p14="http://schemas.microsoft.com/office/powerpoint/2010/main" val="1040158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A96-FEA4-9ABF-0803-66ED8E36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700">
                <a:latin typeface="Roboto Medium"/>
                <a:ea typeface="Roboto Medium"/>
              </a:rPr>
              <a:t>Comparison Charts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E110E5-FEC4-F674-0C24-4EC99B11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r>
              <a:rPr lang="en-US" dirty="0"/>
              <a:t>/39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902807-CF9A-CB4B-E10D-C0F1102AE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4520" y="274902"/>
            <a:ext cx="6862431" cy="48280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1551C4-96E8-B5B7-9E08-AE4765C07B63}"/>
              </a:ext>
            </a:extLst>
          </p:cNvPr>
          <p:cNvSpPr txBox="1"/>
          <p:nvPr/>
        </p:nvSpPr>
        <p:spPr>
          <a:xfrm>
            <a:off x="507999" y="1365955"/>
            <a:ext cx="435751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solidFill>
                  <a:srgbClr val="C00000"/>
                </a:solidFill>
                <a:ea typeface="+mn-lt"/>
                <a:cs typeface="+mn-lt"/>
              </a:rPr>
              <a:t>Important: These results depend greatly on app size, environment, and build mode — use them as guidance, not absolute truth.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27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7A415-6745-C1F9-7022-C78BE409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700" dirty="0">
                <a:latin typeface="Roboto Medium"/>
                <a:ea typeface="Roboto Medium"/>
              </a:rPr>
              <a:t>Comparison Charts</a:t>
            </a:r>
            <a:endParaRPr lang="en-GB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DB592F-F768-8F5B-B589-DAE9E46E7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61" y="1714399"/>
            <a:ext cx="8825659" cy="27903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CBD26-1188-BC8C-CEEB-A129771DF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76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759F-2970-52A5-9F27-32F61E192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200" y="275167"/>
            <a:ext cx="11630400" cy="1143000"/>
          </a:xfrm>
        </p:spPr>
        <p:txBody>
          <a:bodyPr anchor="ctr">
            <a:normAutofit/>
          </a:bodyPr>
          <a:lstStyle/>
          <a:p>
            <a:r>
              <a:rPr lang="en-GB" sz="3700" dirty="0">
                <a:latin typeface="Roboto Medium"/>
                <a:ea typeface="Roboto Medium"/>
              </a:rPr>
              <a:t>Comparison Charts: HelloWorld Code </a:t>
            </a:r>
            <a:endParaRPr lang="en-GB" dirty="0"/>
          </a:p>
        </p:txBody>
      </p:sp>
      <p:pic>
        <p:nvPicPr>
          <p:cNvPr id="7" name="Content Placeholder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6339CE3-1D28-12F4-5BC0-86857ED280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0175" y="1495927"/>
            <a:ext cx="4370513" cy="38599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EA855-497B-12FB-2F46-7E606100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4801" y="6172800"/>
            <a:ext cx="110639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dirty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A891EFB-C061-9279-226E-04E8B7DEE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231" y="1493698"/>
            <a:ext cx="4691438" cy="459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96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637E-F6D5-C266-47EE-4A347CBDD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700" dirty="0">
                <a:latin typeface="Roboto Medium"/>
                <a:ea typeface="Roboto Medium"/>
              </a:rPr>
              <a:t>HelloWorld results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C08D-977B-F60B-0519-C0B619DF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B84D03-FD58-37B2-8D6B-27BB4EB3A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" y="1498601"/>
            <a:ext cx="4901511" cy="3859940"/>
          </a:xfrm>
          <a:prstGeom prst="rect">
            <a:avLst/>
          </a:prstGeom>
          <a:noFill/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D87B784C-A893-7D56-287C-A9D7C956F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165" y="451555"/>
            <a:ext cx="6027049" cy="490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432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38D48-DCCC-90F4-26DA-1284FAA2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2527830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13BF-8A90-E1C3-4262-0BBC77CC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700" dirty="0">
                <a:latin typeface="Roboto Medium"/>
                <a:ea typeface="Roboto Medium"/>
              </a:rPr>
              <a:t>Best Practices for </a:t>
            </a:r>
            <a:r>
              <a:rPr lang="en-GB" sz="3700" dirty="0" err="1">
                <a:latin typeface="Roboto Medium"/>
                <a:ea typeface="Roboto Medium"/>
              </a:rPr>
              <a:t>Quarkus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7948C-76FC-B26D-3E5E-C85DA8E70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9956" y="2726400"/>
            <a:ext cx="9921239" cy="37439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Keep build time optimizations in mind</a:t>
            </a:r>
          </a:p>
          <a:p>
            <a:r>
              <a:rPr lang="en-GB" dirty="0"/>
              <a:t>Use config profiles for env separation</a:t>
            </a:r>
          </a:p>
          <a:p>
            <a:r>
              <a:rPr lang="en-GB" dirty="0"/>
              <a:t>Leverage Panache ORM for simplicity</a:t>
            </a:r>
          </a:p>
          <a:p>
            <a:r>
              <a:rPr lang="en-GB" dirty="0"/>
              <a:t>Use reactive where performance matters</a:t>
            </a:r>
          </a:p>
          <a:p>
            <a:r>
              <a:rPr lang="en-GB" dirty="0"/>
              <a:t>Test native &amp; JVM modes early</a:t>
            </a:r>
          </a:p>
          <a:p>
            <a:r>
              <a:rPr lang="en-GB"/>
              <a:t>Keep container images small</a:t>
            </a:r>
          </a:p>
          <a:p>
            <a:pPr marL="456565" indent="-45656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F61A8-9614-D4E0-CA83-2A7D9C71D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777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7C1A-F6FE-99C9-1062-51EBA9A8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Limitations &amp; drawbacks</a:t>
            </a:r>
          </a:p>
        </p:txBody>
      </p:sp>
    </p:spTree>
    <p:extLst>
      <p:ext uri="{BB962C8B-B14F-4D97-AF65-F5344CB8AC3E}">
        <p14:creationId xmlns:p14="http://schemas.microsoft.com/office/powerpoint/2010/main" val="2243975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5C79D2-C231-F062-200E-52A5B496B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434903-27D9-A838-F14C-4FBCFD37F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>
                <a:cs typeface="Roboto Medium"/>
              </a:rPr>
              <a:t>Limitations &amp; Drawbacks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925AE-610E-1DB2-C54F-31B01DD92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Learning curve &amp; ecosystem maturity</a:t>
            </a:r>
            <a:endParaRPr lang="en-NL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Smaller ecosystem vs. Spring Boot</a:t>
            </a:r>
            <a:endParaRPr lang="en-NL">
              <a:latin typeface="Roboto"/>
              <a:ea typeface="Roboto"/>
              <a:cs typeface="Arial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Fewer tutorials / </a:t>
            </a:r>
            <a:r>
              <a:rPr lang="en-US" err="1">
                <a:latin typeface="Roboto"/>
                <a:ea typeface="Roboto"/>
                <a:cs typeface="Roboto"/>
              </a:rPr>
              <a:t>StackOverflow</a:t>
            </a:r>
            <a:r>
              <a:rPr lang="en-US" dirty="0">
                <a:latin typeface="Roboto"/>
                <a:ea typeface="Roboto"/>
                <a:cs typeface="Roboto"/>
              </a:rPr>
              <a:t> answers</a:t>
            </a:r>
            <a:endParaRPr lang="en-NL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Native image constraints</a:t>
            </a:r>
            <a:endParaRPr lang="en-NL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err="1">
                <a:latin typeface="Roboto"/>
                <a:ea typeface="Roboto"/>
                <a:cs typeface="Roboto"/>
              </a:rPr>
              <a:t>GraalVM</a:t>
            </a:r>
            <a:r>
              <a:rPr lang="en-US" dirty="0">
                <a:latin typeface="Roboto"/>
                <a:ea typeface="Roboto"/>
                <a:cs typeface="Roboto"/>
              </a:rPr>
              <a:t> native requires reflection config, etc.</a:t>
            </a:r>
            <a:endParaRPr lang="en-NL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Some Java libraries don’t behave well in native mode</a:t>
            </a:r>
            <a:endParaRPr lang="en-NL">
              <a:latin typeface="Roboto"/>
              <a:ea typeface="Roboto"/>
              <a:cs typeface="Arial"/>
            </a:endParaRPr>
          </a:p>
          <a:p>
            <a:pPr marL="456565" indent="-456565"/>
            <a:endParaRPr lang="en-NL" sz="2650" dirty="0"/>
          </a:p>
        </p:txBody>
      </p:sp>
    </p:spTree>
    <p:extLst>
      <p:ext uri="{BB962C8B-B14F-4D97-AF65-F5344CB8AC3E}">
        <p14:creationId xmlns:p14="http://schemas.microsoft.com/office/powerpoint/2010/main" val="3057798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0AD5BA-0C78-C85E-9D0C-0E2F64F2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29CEE6-6930-D240-4DEB-C397F6CC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00" dirty="0">
                <a:latin typeface="Roboto Medium"/>
                <a:ea typeface="Roboto Medium"/>
                <a:cs typeface="Roboto Medium"/>
              </a:rPr>
              <a:t>Limitations &amp; Drawbacks</a:t>
            </a:r>
            <a:endParaRPr lang="en-US" sz="3700" dirty="0">
              <a:solidFill>
                <a:srgbClr val="000000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7A18D-2248-9F60-5FB2-C2F20A41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Opinionated structure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“</a:t>
            </a:r>
            <a:r>
              <a:rPr lang="en-US" dirty="0" err="1">
                <a:latin typeface="Roboto"/>
                <a:ea typeface="Roboto"/>
                <a:cs typeface="Roboto"/>
              </a:rPr>
              <a:t>Quarkus</a:t>
            </a:r>
            <a:r>
              <a:rPr lang="en-US" dirty="0">
                <a:latin typeface="Roboto"/>
                <a:ea typeface="Roboto"/>
                <a:cs typeface="Roboto"/>
              </a:rPr>
              <a:t> way” of doing things; less freedom in some areas</a:t>
            </a:r>
            <a:endParaRPr lang="en-US" dirty="0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cs typeface="Roboto"/>
              </a:rPr>
              <a:t>Tooling &amp; debugging</a:t>
            </a:r>
            <a:endParaRPr lang="en-US" dirty="0"/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Native debugging more complex than JVM mode</a:t>
            </a:r>
            <a:endParaRPr lang="en-US">
              <a:latin typeface="Roboto"/>
              <a:ea typeface="Roboto"/>
              <a:cs typeface="Arial"/>
            </a:endParaRPr>
          </a:p>
          <a:p>
            <a:pPr marL="456565" indent="-456565"/>
            <a:r>
              <a:rPr lang="en-US" sz="2650" b="1" dirty="0">
                <a:latin typeface="Roboto"/>
                <a:ea typeface="Roboto"/>
                <a:cs typeface="Roboto"/>
              </a:rPr>
              <a:t>Migration effort</a:t>
            </a:r>
            <a:endParaRPr lang="en-US" dirty="0">
              <a:latin typeface="Roboto"/>
              <a:ea typeface="Roboto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Migrating large Spring apps to </a:t>
            </a:r>
            <a:r>
              <a:rPr lang="en-US" err="1">
                <a:latin typeface="Roboto"/>
                <a:ea typeface="Roboto"/>
                <a:cs typeface="Roboto"/>
              </a:rPr>
              <a:t>Quarkus</a:t>
            </a:r>
            <a:r>
              <a:rPr lang="en-US" dirty="0">
                <a:latin typeface="Roboto"/>
                <a:ea typeface="Roboto"/>
                <a:cs typeface="Roboto"/>
              </a:rPr>
              <a:t> can be non-trivial</a:t>
            </a:r>
            <a:endParaRPr lang="en-US">
              <a:latin typeface="Roboto"/>
              <a:ea typeface="Roboto"/>
              <a:cs typeface="Arial"/>
            </a:endParaRPr>
          </a:p>
          <a:p>
            <a:pPr marL="989965" lvl="1" indent="-380365">
              <a:buFont typeface="Courier New"/>
              <a:buChar char="o"/>
            </a:pPr>
            <a:r>
              <a:rPr lang="en-US" dirty="0">
                <a:latin typeface="Roboto"/>
                <a:ea typeface="Roboto"/>
                <a:cs typeface="Roboto"/>
              </a:rPr>
              <a:t>Different defaults (config, security, etc.)</a:t>
            </a:r>
            <a:endParaRPr lang="en-US" dirty="0">
              <a:latin typeface="Roboto"/>
              <a:ea typeface="Roboto"/>
            </a:endParaRPr>
          </a:p>
          <a:p>
            <a:pPr marL="456565" indent="-456565"/>
            <a:endParaRPr lang="en-US" sz="2650" dirty="0"/>
          </a:p>
        </p:txBody>
      </p:sp>
    </p:spTree>
    <p:extLst>
      <p:ext uri="{BB962C8B-B14F-4D97-AF65-F5344CB8AC3E}">
        <p14:creationId xmlns:p14="http://schemas.microsoft.com/office/powerpoint/2010/main" val="22079931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827F-2FDF-5575-7B0F-CA96E964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</a:t>
            </a:r>
            <a:r>
              <a:rPr lang="en-NL" dirty="0"/>
              <a:t>uiz time</a:t>
            </a:r>
          </a:p>
        </p:txBody>
      </p:sp>
      <p:pic>
        <p:nvPicPr>
          <p:cNvPr id="4" name="Picture 3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56DB52D4-786A-D7BA-03EB-3FC6425DF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060" y="2856266"/>
            <a:ext cx="3379305" cy="337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061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69FCC-6F81-5B9D-1113-667CA825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Thank you for your attentio</a:t>
            </a:r>
            <a:r>
              <a:rPr lang="en-GB" dirty="0"/>
              <a:t>n</a:t>
            </a:r>
            <a:r>
              <a:rPr lang="en-NL" dirty="0"/>
              <a:t>! </a:t>
            </a:r>
          </a:p>
        </p:txBody>
      </p:sp>
      <p:pic>
        <p:nvPicPr>
          <p:cNvPr id="3" name="Picture 2" descr="A qr code with text&#10;&#10;AI-generated content may be incorrect.">
            <a:extLst>
              <a:ext uri="{FF2B5EF4-FFF2-40B4-BE49-F238E27FC236}">
                <a16:creationId xmlns:a16="http://schemas.microsoft.com/office/drawing/2014/main" id="{F8DAF894-5B93-1365-CA63-26D9002EB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752" y="2656770"/>
            <a:ext cx="3368675" cy="363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407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0E91-9B0D-781B-85B7-D9D6C0D8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11EE9-6D3A-2475-DA19-8AFEA5C28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125939"/>
            <a:ext cx="9916701" cy="4893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Ali, M. (2023). </a:t>
            </a:r>
            <a:r>
              <a:rPr lang="en-GB" sz="1200" i="1" dirty="0" err="1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Quarkus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vs. Spring Boot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 [online] </a:t>
            </a:r>
            <a:r>
              <a:rPr lang="en-GB" sz="1200" dirty="0" err="1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LogicMonitor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 Available at: 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  <a:hlinkClick r:id="rId2"/>
              </a:rPr>
              <a:t>https://www.logicmonitor.com/blog/quarkus-vs-spring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[Accessed 1 Nov. 2025].</a:t>
            </a:r>
            <a:endParaRPr lang="en-GB" sz="1800" dirty="0">
              <a:latin typeface="Times New Roman"/>
              <a:ea typeface="Roboto"/>
            </a:endParaRPr>
          </a:p>
          <a:p>
            <a:pPr marL="456565" indent="-456565"/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DECODE Agency (2024). </a:t>
            </a:r>
            <a:r>
              <a:rPr lang="en-GB" sz="1200" i="1" dirty="0" err="1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Quarkus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framework: All you need to know | DECODE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 [online] DECODE. Available at: 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  <a:hlinkClick r:id="rId3"/>
              </a:rPr>
              <a:t>https://decode.agency/article/quarkus-framework/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[Accessed 2 Nov. 2025].</a:t>
            </a:r>
            <a:endParaRPr lang="en-GB"/>
          </a:p>
          <a:p>
            <a:pPr marL="456565" indent="-456565"/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Dev, </a:t>
            </a:r>
            <a:r>
              <a:rPr lang="en-GB" sz="1200" dirty="0" err="1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deToxic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(2025). 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Spring Boot vs </a:t>
            </a:r>
            <a:r>
              <a:rPr lang="en-GB" sz="1200" i="1" dirty="0" err="1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Quarkus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: A Migration Story with Ugly Truths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 [online] Medium. Available at: 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  <a:hlinkClick r:id="rId4"/>
              </a:rPr>
              <a:t>https://blog.stackademic.com/we-switched-from-spring-boot-to-quarkus-heres-the-ugly-truth-c8a91c2b8c53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[Accessed 14 Nov. 2025].</a:t>
            </a:r>
            <a:endParaRPr lang="en-GB"/>
          </a:p>
          <a:p>
            <a:pPr marL="456565" indent="-456565"/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García, A.J. (2025). 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Spring vs </a:t>
            </a:r>
            <a:r>
              <a:rPr lang="en-GB" sz="1200" i="1" dirty="0" err="1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Quarkus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: Which is the Best Choice for Your Microservices in 2025?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 [online] Paradigmadigital.com. Available at: https://en.paradigmadigital.com/dev/spring-vs-quarkus-which-is-best-choice-microservices [Accessed 15Nov. 2025].</a:t>
            </a:r>
            <a:endParaRPr lang="en-GB"/>
          </a:p>
          <a:p>
            <a:pPr marL="456565" indent="-456565"/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Graciano, R. (2019). </a:t>
            </a:r>
            <a:r>
              <a:rPr lang="en-GB" sz="1200" i="1" dirty="0" err="1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Baeldung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 [online] </a:t>
            </a:r>
            <a:r>
              <a:rPr lang="en-GB" sz="1200" dirty="0" err="1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Baeldung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on Kotlin. Available at: 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  <a:hlinkClick r:id="rId5"/>
              </a:rPr>
              <a:t>https://www.baeldung.com/quarkus-io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[Accessed 3 Nov. 2025].</a:t>
            </a:r>
            <a:endParaRPr lang="en-GB"/>
          </a:p>
          <a:p>
            <a:pPr marL="456565" indent="-456565"/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Quarkus.io. (2025). 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Developer Joy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 [online] Available at: 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  <a:hlinkClick r:id="rId6"/>
              </a:rPr>
              <a:t>https://quarkus.io/developer-joy/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[Accessed 5 Nov. 2025].</a:t>
            </a:r>
            <a:endParaRPr lang="en-GB"/>
          </a:p>
          <a:p>
            <a:pPr marL="456565" indent="-456565"/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quarkus.io. (n.d.). 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Get Started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 [online] Available at: 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  <a:hlinkClick r:id="rId7"/>
              </a:rPr>
              <a:t>https://quarkus.io/get-started/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</a:t>
            </a:r>
            <a:endParaRPr lang="en-GB"/>
          </a:p>
          <a:p>
            <a:pPr marL="456565" indent="-456565"/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quarkus.io. (n.d.). 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Guides - Latest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 [online] Available at: 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  <a:hlinkClick r:id="rId8"/>
              </a:rPr>
              <a:t>https://quarkus.io/guides/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</a:t>
            </a:r>
            <a:endParaRPr lang="en-GB"/>
          </a:p>
          <a:p>
            <a:pPr marL="456565" indent="-456565"/>
            <a:r>
              <a:rPr lang="en-GB" sz="1200" dirty="0" err="1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SoftwareMill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 (2022). 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Overview of next-generation Java frameworks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 [online] Available at: https://softwaremill.com/overview-of-next-generation-java-frameworks/ [Accessed 11 Nov. 2025].</a:t>
            </a:r>
            <a:endParaRPr lang="en-GB"/>
          </a:p>
          <a:p>
            <a:pPr marL="456565" indent="-456565"/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Venkat </a:t>
            </a:r>
            <a:r>
              <a:rPr lang="en-GB" sz="1200" dirty="0" err="1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Chepuri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(2024). 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Micronaut Vs Helidon Vs </a:t>
            </a:r>
            <a:r>
              <a:rPr lang="en-GB" sz="1200" i="1" dirty="0" err="1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Quarkus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Vs Spring Boot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 [online] Medium. Available at: 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  <a:hlinkClick r:id="rId9"/>
              </a:rPr>
              <a:t>https://medium.com/@iamvensan/micronaut-vs-helidon-vs-quarkus-vs-spring-boot-4f00b0d4a7ae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[Accessed 11 Nov. 2025].</a:t>
            </a:r>
            <a:endParaRPr lang="en-GB"/>
          </a:p>
          <a:p>
            <a:pPr marL="456565" indent="-456565"/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Quarkus.io. (2025). </a:t>
            </a:r>
            <a:r>
              <a:rPr lang="en-GB" sz="1200" i="1" dirty="0" err="1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Quarkus</a:t>
            </a:r>
            <a:r>
              <a:rPr lang="en-GB" sz="1200" i="1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Reactive Architecture - main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. [online] Available at: 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  <a:hlinkClick r:id="rId10"/>
              </a:rPr>
              <a:t>https://quarkus.io/version/main/guides/quarkus-reactive-architecture</a:t>
            </a:r>
            <a:r>
              <a:rPr lang="en-GB" sz="1200" dirty="0">
                <a:solidFill>
                  <a:srgbClr val="000000"/>
                </a:solidFill>
                <a:latin typeface="Times New Roman"/>
                <a:ea typeface="Roboto"/>
                <a:cs typeface="Times New Roman"/>
              </a:rPr>
              <a:t> [Accessed 10Nov. 2025].</a:t>
            </a:r>
          </a:p>
          <a:p>
            <a:pPr marL="456565" indent="-456565"/>
            <a:endParaRPr lang="en-GB" sz="1200" dirty="0">
              <a:solidFill>
                <a:srgbClr val="000000"/>
              </a:solidFill>
              <a:latin typeface="Times New Roman" panose="02020603050405020304" pitchFamily="18" charset="0"/>
              <a:cs typeface="Times New Roman"/>
            </a:endParaRPr>
          </a:p>
          <a:p>
            <a:pPr marL="456565" indent="-456565"/>
            <a:endParaRPr lang="en-GB" sz="1200" dirty="0">
              <a:solidFill>
                <a:srgbClr val="000000"/>
              </a:solidFill>
              <a:latin typeface="Times New Roman" panose="02020603050405020304" pitchFamily="18" charset="0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E199A-1742-DF7C-C9DE-2415AD904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r>
              <a:rPr lang="en-US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3660754400"/>
      </p:ext>
    </p:extLst>
  </p:cSld>
  <p:clrMapOvr>
    <a:masterClrMapping/>
  </p:clrMapOvr>
</p:sld>
</file>

<file path=ppt/theme/theme1.xml><?xml version="1.0" encoding="utf-8"?>
<a:theme xmlns:a="http://schemas.openxmlformats.org/drawingml/2006/main" name="Fontys-basic-sheet">
  <a:themeElements>
    <a:clrScheme name="Fontys kleurenpallet">
      <a:dk1>
        <a:srgbClr val="663366"/>
      </a:dk1>
      <a:lt1>
        <a:srgbClr val="FFFFFF"/>
      </a:lt1>
      <a:dk2>
        <a:srgbClr val="663366"/>
      </a:dk2>
      <a:lt2>
        <a:srgbClr val="EEECE1"/>
      </a:lt2>
      <a:accent1>
        <a:srgbClr val="E5007D"/>
      </a:accent1>
      <a:accent2>
        <a:srgbClr val="0076E0"/>
      </a:accent2>
      <a:accent3>
        <a:srgbClr val="008386"/>
      </a:accent3>
      <a:accent4>
        <a:srgbClr val="39B549"/>
      </a:accent4>
      <a:accent5>
        <a:srgbClr val="FF9900"/>
      </a:accent5>
      <a:accent6>
        <a:srgbClr val="FFCC00"/>
      </a:accent6>
      <a:hlink>
        <a:srgbClr val="0076E0"/>
      </a:hlink>
      <a:folHlink>
        <a:srgbClr val="0099C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t">
        <a:normAutofit/>
      </a:bodyPr>
      <a:lstStyle>
        <a:defPPr algn="l">
          <a:defRPr dirty="0" smtClean="0">
            <a:solidFill>
              <a:srgbClr val="C00000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B273BF9FA07C428BA0BC1DF084C18A" ma:contentTypeVersion="3" ma:contentTypeDescription="Een nieuw document maken." ma:contentTypeScope="" ma:versionID="2f6136ff81aa934e0a4dc6ba8e878790">
  <xsd:schema xmlns:xsd="http://www.w3.org/2001/XMLSchema" xmlns:xs="http://www.w3.org/2001/XMLSchema" xmlns:p="http://schemas.microsoft.com/office/2006/metadata/properties" xmlns:ns2="29395b95-342b-4cc8-a571-28c26088c783" targetNamespace="http://schemas.microsoft.com/office/2006/metadata/properties" ma:root="true" ma:fieldsID="6e056efee2485b29c401acbb7282fa4c" ns2:_="">
    <xsd:import namespace="29395b95-342b-4cc8-a571-28c26088c7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95b95-342b-4cc8-a571-28c26088c7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770F3-214F-43FE-AC71-2BB42BA4B56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5C792D-8F3D-4C2F-934E-38A112D54AAB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29395b95-342b-4cc8-a571-28c26088c783"/>
    <ds:schemaRef ds:uri="http://purl.org/dc/terms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520E278-3689-4699-A782-66F2001778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395b95-342b-4cc8-a571-28c26088c7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Algemene_Presentatie_Fontys_ENG</Template>
  <TotalTime>1259</TotalTime>
  <Words>350</Words>
  <Application>Microsoft Office PowerPoint</Application>
  <PresentationFormat>Widescreen</PresentationFormat>
  <Paragraphs>84</Paragraphs>
  <Slides>33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Fontys-basic-sheet</vt:lpstr>
      <vt:lpstr>Quarkus</vt:lpstr>
      <vt:lpstr>Today’s Agenda</vt:lpstr>
      <vt:lpstr>What is Quarkus?</vt:lpstr>
      <vt:lpstr>How does it work?</vt:lpstr>
      <vt:lpstr>Why Use It?</vt:lpstr>
      <vt:lpstr>Developer Joy: Quarkus Dev Mode</vt:lpstr>
      <vt:lpstr>Dev Mode</vt:lpstr>
      <vt:lpstr>Quarkus in the Cloud</vt:lpstr>
      <vt:lpstr>Building Microservices with quarkus</vt:lpstr>
      <vt:lpstr>RESTEasy, Panache</vt:lpstr>
      <vt:lpstr>How Quarkus Simplifies Microservices Development</vt:lpstr>
      <vt:lpstr>Reactive programming with quarkus</vt:lpstr>
      <vt:lpstr>Reactive Programming with Quarkus</vt:lpstr>
      <vt:lpstr>Reactive Programming with Quarkus</vt:lpstr>
      <vt:lpstr>Quarkus with hibernate</vt:lpstr>
      <vt:lpstr>Quarkus &amp; Hibernate ORM / Panache</vt:lpstr>
      <vt:lpstr>Quarkus &amp; Hibernate ORM / Panache</vt:lpstr>
      <vt:lpstr>Comparison to other Java Frameworks</vt:lpstr>
      <vt:lpstr>Quarkus vs Spring Boot</vt:lpstr>
      <vt:lpstr>Quarkus vs Micronaut</vt:lpstr>
      <vt:lpstr>Quarkus vs Helidon</vt:lpstr>
      <vt:lpstr>Comparison Charts</vt:lpstr>
      <vt:lpstr>Comparison Charts</vt:lpstr>
      <vt:lpstr>Comparison Charts: HelloWorld Code </vt:lpstr>
      <vt:lpstr>HelloWorld results</vt:lpstr>
      <vt:lpstr>Best practices</vt:lpstr>
      <vt:lpstr>Best Practices for Quarkus</vt:lpstr>
      <vt:lpstr>Limitations &amp; drawbacks</vt:lpstr>
      <vt:lpstr>Limitations &amp; Drawbacks</vt:lpstr>
      <vt:lpstr>Limitations &amp; Drawbacks</vt:lpstr>
      <vt:lpstr>Quiz time</vt:lpstr>
      <vt:lpstr>Thank you for your attention!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Vaadin FLow</dc:title>
  <dc:creator>Velcea,Tiberiu T.C.</dc:creator>
  <cp:lastModifiedBy>Velcea,Tiberiu T.C.</cp:lastModifiedBy>
  <cp:revision>257</cp:revision>
  <dcterms:created xsi:type="dcterms:W3CDTF">2024-10-08T07:31:04Z</dcterms:created>
  <dcterms:modified xsi:type="dcterms:W3CDTF">2025-11-16T20:40:11Z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0x010100F8B273BF9FA07C428BA0BC1DF084C18A</vt:lpwstr>
  </property>
</Properties>
</file>